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2" r:id="rId3"/>
    <p:sldId id="273" r:id="rId4"/>
    <p:sldId id="268" r:id="rId5"/>
    <p:sldId id="269" r:id="rId6"/>
    <p:sldId id="271" r:id="rId7"/>
    <p:sldId id="262" r:id="rId8"/>
    <p:sldId id="275" r:id="rId9"/>
    <p:sldId id="274" r:id="rId10"/>
    <p:sldId id="278" r:id="rId11"/>
    <p:sldId id="260"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349C"/>
    <a:srgbClr val="3038A8"/>
    <a:srgbClr val="0033CC"/>
    <a:srgbClr val="053475"/>
    <a:srgbClr val="000066"/>
    <a:srgbClr val="2198CD"/>
    <a:srgbClr val="1A759E"/>
    <a:srgbClr val="2B025A"/>
    <a:srgbClr val="9C2828"/>
    <a:srgbClr val="3137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latin typeface="Times New Roman" panose="02020603050405020304" pitchFamily="18" charset="0"/>
                <a:cs typeface="Times New Roman" panose="02020603050405020304" pitchFamily="18" charset="0"/>
              </a:rPr>
              <a:t>Distribution of Common Cyber Attacks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0.29165816916563592"/>
          <c:y val="0.14961160723718545"/>
          <c:w val="0.67370581550869357"/>
          <c:h val="0.60756020688423529"/>
        </c:manualLayout>
      </c:layout>
      <c:barChart>
        <c:barDir val="bar"/>
        <c:grouping val="clustered"/>
        <c:varyColors val="0"/>
        <c:ser>
          <c:idx val="0"/>
          <c:order val="0"/>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Sheet1!$A$2:$A$26</c:f>
              <c:strCache>
                <c:ptCount val="5"/>
                <c:pt idx="0">
                  <c:v>Phishing</c:v>
                </c:pt>
                <c:pt idx="1">
                  <c:v>Malware</c:v>
                </c:pt>
                <c:pt idx="2">
                  <c:v>Ransomware</c:v>
                </c:pt>
                <c:pt idx="3">
                  <c:v>DDoS Attacks</c:v>
                </c:pt>
                <c:pt idx="4">
                  <c:v>Password Attacks</c:v>
                </c:pt>
              </c:strCache>
            </c:strRef>
          </c:cat>
          <c:val>
            <c:numRef>
              <c:f>Sheet1!$B$2:$B$26</c:f>
              <c:numCache>
                <c:formatCode>General</c:formatCode>
                <c:ptCount val="5"/>
                <c:pt idx="0">
                  <c:v>40</c:v>
                </c:pt>
                <c:pt idx="1">
                  <c:v>25</c:v>
                </c:pt>
                <c:pt idx="2">
                  <c:v>15</c:v>
                </c:pt>
                <c:pt idx="3">
                  <c:v>12</c:v>
                </c:pt>
                <c:pt idx="4">
                  <c:v>8</c:v>
                </c:pt>
              </c:numCache>
            </c:numRef>
          </c:val>
        </c:ser>
        <c:dLbls>
          <c:dLblPos val="inEnd"/>
          <c:showLegendKey val="0"/>
          <c:showVal val="1"/>
          <c:showCatName val="0"/>
          <c:showSerName val="0"/>
          <c:showPercent val="0"/>
          <c:showBubbleSize val="0"/>
        </c:dLbls>
        <c:gapWidth val="65"/>
        <c:axId val="1826920160"/>
        <c:axId val="1826925600"/>
        <c:extLst/>
      </c:barChart>
      <c:catAx>
        <c:axId val="1826920160"/>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Attack Type</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826925600"/>
        <c:crosses val="autoZero"/>
        <c:auto val="1"/>
        <c:lblAlgn val="ctr"/>
        <c:lblOffset val="100"/>
        <c:noMultiLvlLbl val="0"/>
      </c:catAx>
      <c:valAx>
        <c:axId val="182692560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dirty="0" smtClean="0"/>
                  <a:t>Percentage </a:t>
                </a:r>
                <a:r>
                  <a:rPr lang="en-US" dirty="0"/>
                  <a:t>(%)</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82692016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C9F87-D3C3-D1AE-BC77-C0B459E695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A9C1EB2B-35CB-BFEC-6A33-F6BFAB513E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7BC88D78-BECE-D895-B58C-300A233E5BAD}"/>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2E699F84-6433-404C-AD12-C8AF4D362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825370F-E092-E07A-2D11-2E5A307FA5C1}"/>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425277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2A85AB-A2C4-C608-9E38-E7D53F1447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E06F160-F1AB-E4C3-BFE4-A8F8C3C22C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CB1AC91-4F80-7FD8-D4B4-E3376CCFB7D6}"/>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AC335B85-1845-28EA-5689-7CE680102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0D0BF75-F77E-5B0C-E72A-D2C77883940C}"/>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42092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B3F4CB-5236-49C8-7AB3-229DC7E9B9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8EF4CEB0-A6CA-F1D5-44E4-670FA4F24C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803AF7D-B5AF-6B5C-9443-150E2D28FE27}"/>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D6601624-8FFA-16FD-FF66-AF40F5F0E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AE3F533-1FB4-B545-F0C7-6F6D125F4D0A}"/>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46814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D2575-65CF-901E-ED7A-154AF9FB9F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6F79DFF-07F4-7DA4-1D29-B02955207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EC004AFD-E4E5-EC3B-3472-588EEC9956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1C1B223F-F43E-A411-BA12-7AAAA26615A8}"/>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6" name="Footer Placeholder 5">
            <a:extLst>
              <a:ext uri="{FF2B5EF4-FFF2-40B4-BE49-F238E27FC236}">
                <a16:creationId xmlns:a16="http://schemas.microsoft.com/office/drawing/2014/main" xmlns="" id="{AC2DCC1C-3FB7-79ED-BEE5-A560F44E93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BB69E98-2E13-8BCC-5FC5-87ED112FF92B}"/>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1649080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D98021-DD24-07BB-2AFD-B18F2C11C4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4EDEAE92-1533-5743-7C56-4EE85A087C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4BB7149-CC8A-7D24-9355-33B0AE2172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80451864-D0B0-AFEF-2506-AC69958F7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A18EB95-A526-BAD2-BBB3-95B9D9607E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1DE6D08-6AA7-ED30-53CE-B746C4CCC93F}"/>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8" name="Footer Placeholder 7">
            <a:extLst>
              <a:ext uri="{FF2B5EF4-FFF2-40B4-BE49-F238E27FC236}">
                <a16:creationId xmlns:a16="http://schemas.microsoft.com/office/drawing/2014/main" xmlns="" id="{4136D0C4-18F5-320E-9ECA-265ACD7D4E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76E45FE8-1489-E6AC-614D-C75CCDC7072F}"/>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375000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CD5D2F-7580-2E19-C2E1-29E2EFF128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87F6764-8638-8588-3870-C449526DB2AD}"/>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4" name="Footer Placeholder 3">
            <a:extLst>
              <a:ext uri="{FF2B5EF4-FFF2-40B4-BE49-F238E27FC236}">
                <a16:creationId xmlns:a16="http://schemas.microsoft.com/office/drawing/2014/main" xmlns="" id="{D5306B2F-6253-74A2-B167-E698136B46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E097A4D-E555-F866-4011-D917FD79C303}"/>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2978308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01463E3-C9CF-7098-6448-E899E58C514D}"/>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3" name="Footer Placeholder 2">
            <a:extLst>
              <a:ext uri="{FF2B5EF4-FFF2-40B4-BE49-F238E27FC236}">
                <a16:creationId xmlns:a16="http://schemas.microsoft.com/office/drawing/2014/main" xmlns="" id="{F599E18C-1324-0E8C-C3FF-A4F12502BA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A4F8E972-1C94-88CF-62BF-A79481D7DF6C}"/>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2988034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BAF9CD-3BFC-57AD-FDAF-B45FB47305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4941F45B-3C96-59A8-C2B5-2427187DB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2D3F4A9A-84AB-7EFF-CDA5-2AD38258B3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32A2B4E-CF7F-E4EF-4384-2F6C5ED1BC8E}"/>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6" name="Footer Placeholder 5">
            <a:extLst>
              <a:ext uri="{FF2B5EF4-FFF2-40B4-BE49-F238E27FC236}">
                <a16:creationId xmlns:a16="http://schemas.microsoft.com/office/drawing/2014/main" xmlns="" id="{C722F6E0-8FF8-5281-0D66-95713DFA7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D78AEA9-A542-4F27-FA25-21AE5F2CF88E}"/>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2253509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B0F08D-3546-24C2-B485-37C6F8593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2546CA59-6989-3A87-B6EA-A310C4EAD6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9A74DACB-5D9C-AA54-CAC1-F1ED4024DF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D9C55BD-06C6-AA2C-5DEB-EB3873B99040}"/>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6" name="Footer Placeholder 5">
            <a:extLst>
              <a:ext uri="{FF2B5EF4-FFF2-40B4-BE49-F238E27FC236}">
                <a16:creationId xmlns:a16="http://schemas.microsoft.com/office/drawing/2014/main" xmlns="" id="{C70AF18D-4890-89A6-4F80-550890B223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5704BAB-2EAF-DC2B-78BA-6F5E5A5C05D5}"/>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193000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8D516A-14C7-9E60-BBA3-5908673303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480884A-B23F-FE00-16A2-9E03D607ED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E7285A-C55F-BD0D-BDD3-74373B9D565F}"/>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88D115DF-6B2D-BBD4-DED4-7E2F7B05D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0DFE844-841C-CEF8-0559-D4B483E2229D}"/>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639435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F469965-773A-43E5-A506-14CE5992CE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8FB708C-2A5D-2C4E-A53C-C4D0CA1870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976490C-30DD-BA68-B032-7E426C924C31}"/>
              </a:ext>
            </a:extLst>
          </p:cNvPr>
          <p:cNvSpPr>
            <a:spLocks noGrp="1"/>
          </p:cNvSpPr>
          <p:nvPr>
            <p:ph type="dt" sz="half" idx="10"/>
          </p:nvPr>
        </p:nvSpPr>
        <p:spPr/>
        <p:txBody>
          <a:body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0A644ECF-E33E-AF45-AB5A-3F36C71BCD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47C0FDD-1B01-6F00-5BD2-DE2BC988BCF2}"/>
              </a:ext>
            </a:extLst>
          </p:cNvPr>
          <p:cNvSpPr>
            <a:spLocks noGrp="1"/>
          </p:cNvSpPr>
          <p:nvPr>
            <p:ph type="sldNum" sz="quarter" idx="12"/>
          </p:nvPr>
        </p:nvSpPr>
        <p:spPr/>
        <p:txBody>
          <a:bodyPr/>
          <a:lstStyle/>
          <a:p>
            <a:fld id="{F5B1D92A-EE63-49D1-9931-55BBD61F9A55}" type="slidenum">
              <a:rPr lang="en-US" smtClean="0"/>
              <a:t>‹#›</a:t>
            </a:fld>
            <a:endParaRPr lang="en-US"/>
          </a:p>
        </p:txBody>
      </p:sp>
    </p:spTree>
    <p:extLst>
      <p:ext uri="{BB962C8B-B14F-4D97-AF65-F5344CB8AC3E}">
        <p14:creationId xmlns:p14="http://schemas.microsoft.com/office/powerpoint/2010/main" val="305033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DD986BB-4401-198B-E329-8E8A6854E3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AF37957-066D-D949-7CAE-FA20B6AEF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490F240-354C-98D7-101F-DA2C044BC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053F8-4851-402A-A238-A80D480B4456}" type="datetimeFigureOut">
              <a:rPr lang="en-US" smtClean="0"/>
              <a:t>6/12/2026</a:t>
            </a:fld>
            <a:endParaRPr lang="en-US"/>
          </a:p>
        </p:txBody>
      </p:sp>
      <p:sp>
        <p:nvSpPr>
          <p:cNvPr id="5" name="Footer Placeholder 4">
            <a:extLst>
              <a:ext uri="{FF2B5EF4-FFF2-40B4-BE49-F238E27FC236}">
                <a16:creationId xmlns:a16="http://schemas.microsoft.com/office/drawing/2014/main" xmlns="" id="{1424909F-652E-86E3-FB4B-79F8219E8F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9102E9AF-F7D7-AA1B-1E3F-498ABA8063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B1D92A-EE63-49D1-9931-55BBD61F9A55}" type="slidenum">
              <a:rPr lang="en-US" smtClean="0"/>
              <a:t>‹#›</a:t>
            </a:fld>
            <a:endParaRPr lang="en-US"/>
          </a:p>
        </p:txBody>
      </p:sp>
    </p:spTree>
    <p:extLst>
      <p:ext uri="{BB962C8B-B14F-4D97-AF65-F5344CB8AC3E}">
        <p14:creationId xmlns:p14="http://schemas.microsoft.com/office/powerpoint/2010/main" val="540128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6.png"/><Relationship Id="rId12" Type="http://schemas.microsoft.com/office/2007/relationships/hdphoto" Target="../media/hdphoto2.wdp"/><Relationship Id="rId2" Type="http://schemas.openxmlformats.org/officeDocument/2006/relationships/image" Target="../media/image1.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5" Type="http://schemas.microsoft.com/office/2007/relationships/hdphoto" Target="../media/hdphoto3.wdp"/><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microsoft.com/office/2007/relationships/hdphoto" Target="../media/hdphoto6.wdp"/><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6.xml"/><Relationship Id="rId6" Type="http://schemas.microsoft.com/office/2007/relationships/hdphoto" Target="../media/hdphoto5.wdp"/><Relationship Id="rId11" Type="http://schemas.microsoft.com/office/2007/relationships/hdphoto" Target="../media/hdphoto3.wdp"/><Relationship Id="rId5" Type="http://schemas.openxmlformats.org/officeDocument/2006/relationships/image" Target="../media/image18.png"/><Relationship Id="rId10" Type="http://schemas.openxmlformats.org/officeDocument/2006/relationships/image" Target="../media/image22.png"/><Relationship Id="rId4" Type="http://schemas.microsoft.com/office/2007/relationships/hdphoto" Target="../media/hdphoto4.wdp"/><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0.png"/><Relationship Id="rId3" Type="http://schemas.microsoft.com/office/2007/relationships/hdphoto" Target="../media/hdphoto7.wdp"/><Relationship Id="rId7" Type="http://schemas.microsoft.com/office/2007/relationships/hdphoto" Target="../media/hdphoto9.wdp"/><Relationship Id="rId12" Type="http://schemas.microsoft.com/office/2007/relationships/hdphoto" Target="../media/hdphoto11.wdp"/><Relationship Id="rId2" Type="http://schemas.openxmlformats.org/officeDocument/2006/relationships/image" Target="../media/image24.png"/><Relationship Id="rId16" Type="http://schemas.microsoft.com/office/2007/relationships/hdphoto" Target="../media/hdphoto13.wdp"/><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9.png"/><Relationship Id="rId5" Type="http://schemas.microsoft.com/office/2007/relationships/hdphoto" Target="../media/hdphoto8.wdp"/><Relationship Id="rId15" Type="http://schemas.openxmlformats.org/officeDocument/2006/relationships/image" Target="../media/image31.png"/><Relationship Id="rId10" Type="http://schemas.microsoft.com/office/2007/relationships/hdphoto" Target="../media/hdphoto10.wdp"/><Relationship Id="rId4" Type="http://schemas.openxmlformats.org/officeDocument/2006/relationships/image" Target="../media/image25.png"/><Relationship Id="rId9" Type="http://schemas.openxmlformats.org/officeDocument/2006/relationships/image" Target="../media/image28.png"/><Relationship Id="rId14" Type="http://schemas.microsoft.com/office/2007/relationships/hdphoto" Target="../media/hdphoto12.wdp"/></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66CC"/>
            </a:gs>
            <a:gs pos="84000">
              <a:srgbClr val="000066"/>
            </a:gs>
          </a:gsLst>
          <a:lin ang="16200000" scaled="1"/>
          <a:tileRect/>
        </a:gradFill>
        <a:effectLst/>
      </p:bgPr>
    </p:bg>
    <p:spTree>
      <p:nvGrpSpPr>
        <p:cNvPr id="1" name="">
          <a:extLst>
            <a:ext uri="{FF2B5EF4-FFF2-40B4-BE49-F238E27FC236}">
              <a16:creationId xmlns:a16="http://schemas.microsoft.com/office/drawing/2014/main" xmlns="" id="{CE94E3CD-7DE9-9FEC-7092-A71E8DB188DC}"/>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xmlns="" id="{9329D6FE-D218-9134-C56A-3E773D6FEDFD}"/>
              </a:ext>
            </a:extLst>
          </p:cNvPr>
          <p:cNvSpPr txBox="1"/>
          <p:nvPr/>
        </p:nvSpPr>
        <p:spPr>
          <a:xfrm>
            <a:off x="1800532" y="357288"/>
            <a:ext cx="882440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0" b="1" i="0" u="none" strike="noStrike" kern="1200" cap="none" spc="600" normalizeH="0" baseline="0" noProof="0" dirty="0">
                <a:ln>
                  <a:noFill/>
                </a:ln>
                <a:solidFill>
                  <a:prstClr val="white"/>
                </a:solidFill>
                <a:effectLst/>
                <a:uLnTx/>
                <a:uFillTx/>
                <a:latin typeface="Times New Roman" panose="02020603050405020304" pitchFamily="18" charset="0"/>
                <a:ea typeface="open sans" panose="020B0606030504020204" pitchFamily="34" charset="0"/>
                <a:cs typeface="Times New Roman" panose="02020603050405020304" pitchFamily="18" charset="0"/>
              </a:rPr>
              <a:t>Cyber Security</a:t>
            </a:r>
          </a:p>
        </p:txBody>
      </p:sp>
      <p:grpSp>
        <p:nvGrpSpPr>
          <p:cNvPr id="4" name="Group 3"/>
          <p:cNvGrpSpPr/>
          <p:nvPr/>
        </p:nvGrpSpPr>
        <p:grpSpPr>
          <a:xfrm>
            <a:off x="2524585" y="2306735"/>
            <a:ext cx="7387511" cy="3664298"/>
            <a:chOff x="1654225" y="1684749"/>
            <a:chExt cx="8961959" cy="4176555"/>
          </a:xfrm>
        </p:grpSpPr>
        <p:grpSp>
          <p:nvGrpSpPr>
            <p:cNvPr id="2" name="Group 1"/>
            <p:cNvGrpSpPr/>
            <p:nvPr/>
          </p:nvGrpSpPr>
          <p:grpSpPr>
            <a:xfrm>
              <a:off x="1654225" y="1684749"/>
              <a:ext cx="8961959" cy="4176555"/>
              <a:chOff x="3904754" y="1373853"/>
              <a:chExt cx="8070232" cy="3839684"/>
            </a:xfrm>
          </p:grpSpPr>
          <p:sp>
            <p:nvSpPr>
              <p:cNvPr id="6" name="Hexagon 5">
                <a:extLst>
                  <a:ext uri="{FF2B5EF4-FFF2-40B4-BE49-F238E27FC236}">
                    <a16:creationId xmlns:a16="http://schemas.microsoft.com/office/drawing/2014/main" xmlns="" id="{7A88D748-7E04-ECF1-F635-90B592FDFE8A}"/>
                  </a:ext>
                </a:extLst>
              </p:cNvPr>
              <p:cNvSpPr/>
              <p:nvPr/>
            </p:nvSpPr>
            <p:spPr>
              <a:xfrm>
                <a:off x="6114226" y="2671505"/>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Hexagon 6">
                <a:extLst>
                  <a:ext uri="{FF2B5EF4-FFF2-40B4-BE49-F238E27FC236}">
                    <a16:creationId xmlns:a16="http://schemas.microsoft.com/office/drawing/2014/main" xmlns="" id="{DD5B1AB5-0CA1-BE3A-EA76-C2538B4E4871}"/>
                  </a:ext>
                </a:extLst>
              </p:cNvPr>
              <p:cNvSpPr/>
              <p:nvPr/>
            </p:nvSpPr>
            <p:spPr>
              <a:xfrm>
                <a:off x="6114226" y="1382732"/>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Hexagon 7">
                <a:extLst>
                  <a:ext uri="{FF2B5EF4-FFF2-40B4-BE49-F238E27FC236}">
                    <a16:creationId xmlns:a16="http://schemas.microsoft.com/office/drawing/2014/main" xmlns="" id="{627204AE-DAFF-8A72-FEE3-99042785C185}"/>
                  </a:ext>
                </a:extLst>
              </p:cNvPr>
              <p:cNvSpPr/>
              <p:nvPr/>
            </p:nvSpPr>
            <p:spPr>
              <a:xfrm>
                <a:off x="6125490" y="3933249"/>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Hexagon 8">
                <a:extLst>
                  <a:ext uri="{FF2B5EF4-FFF2-40B4-BE49-F238E27FC236}">
                    <a16:creationId xmlns:a16="http://schemas.microsoft.com/office/drawing/2014/main" xmlns="" id="{17E30957-7618-5F9E-C55F-293FA2E7EEDA}"/>
                  </a:ext>
                </a:extLst>
              </p:cNvPr>
              <p:cNvSpPr/>
              <p:nvPr/>
            </p:nvSpPr>
            <p:spPr>
              <a:xfrm>
                <a:off x="7225086" y="3307013"/>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Hexagon 9">
                <a:extLst>
                  <a:ext uri="{FF2B5EF4-FFF2-40B4-BE49-F238E27FC236}">
                    <a16:creationId xmlns:a16="http://schemas.microsoft.com/office/drawing/2014/main" xmlns="" id="{14583D78-2931-B341-D5E6-E68C0B57D982}"/>
                  </a:ext>
                </a:extLst>
              </p:cNvPr>
              <p:cNvSpPr/>
              <p:nvPr/>
            </p:nvSpPr>
            <p:spPr>
              <a:xfrm>
                <a:off x="8323698" y="2644869"/>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Hexagon 10">
                <a:extLst>
                  <a:ext uri="{FF2B5EF4-FFF2-40B4-BE49-F238E27FC236}">
                    <a16:creationId xmlns:a16="http://schemas.microsoft.com/office/drawing/2014/main" xmlns="" id="{6997738F-E8B3-7F86-035A-5B8E2C3173A9}"/>
                  </a:ext>
                </a:extLst>
              </p:cNvPr>
              <p:cNvSpPr/>
              <p:nvPr/>
            </p:nvSpPr>
            <p:spPr>
              <a:xfrm>
                <a:off x="7225086" y="2016741"/>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Hexagon 11">
                <a:extLst>
                  <a:ext uri="{FF2B5EF4-FFF2-40B4-BE49-F238E27FC236}">
                    <a16:creationId xmlns:a16="http://schemas.microsoft.com/office/drawing/2014/main" xmlns="" id="{FD500521-8D65-2A64-2128-E469C29EC231}"/>
                  </a:ext>
                </a:extLst>
              </p:cNvPr>
              <p:cNvSpPr/>
              <p:nvPr/>
            </p:nvSpPr>
            <p:spPr>
              <a:xfrm>
                <a:off x="8335946" y="1373853"/>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Hexagon 12">
                <a:extLst>
                  <a:ext uri="{FF2B5EF4-FFF2-40B4-BE49-F238E27FC236}">
                    <a16:creationId xmlns:a16="http://schemas.microsoft.com/office/drawing/2014/main" xmlns="" id="{CC8AA56F-2628-C6BB-46A9-FFBA8EA5744D}"/>
                  </a:ext>
                </a:extLst>
              </p:cNvPr>
              <p:cNvSpPr/>
              <p:nvPr/>
            </p:nvSpPr>
            <p:spPr>
              <a:xfrm>
                <a:off x="8323698" y="3942521"/>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Hexagon 13">
                <a:extLst>
                  <a:ext uri="{FF2B5EF4-FFF2-40B4-BE49-F238E27FC236}">
                    <a16:creationId xmlns:a16="http://schemas.microsoft.com/office/drawing/2014/main" xmlns="" id="{BC9CD6D7-9D6E-4970-CE18-5C8855F34AF0}"/>
                  </a:ext>
                </a:extLst>
              </p:cNvPr>
              <p:cNvSpPr/>
              <p:nvPr/>
            </p:nvSpPr>
            <p:spPr>
              <a:xfrm>
                <a:off x="10557666" y="2644869"/>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Hexagon 14">
                <a:extLst>
                  <a:ext uri="{FF2B5EF4-FFF2-40B4-BE49-F238E27FC236}">
                    <a16:creationId xmlns:a16="http://schemas.microsoft.com/office/drawing/2014/main" xmlns="" id="{AE58BB76-E9D5-2386-CA03-EE779D65A4CF}"/>
                  </a:ext>
                </a:extLst>
              </p:cNvPr>
              <p:cNvSpPr/>
              <p:nvPr/>
            </p:nvSpPr>
            <p:spPr>
              <a:xfrm>
                <a:off x="9446806" y="2016741"/>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Hexagon 15">
                <a:extLst>
                  <a:ext uri="{FF2B5EF4-FFF2-40B4-BE49-F238E27FC236}">
                    <a16:creationId xmlns:a16="http://schemas.microsoft.com/office/drawing/2014/main" xmlns="" id="{7E32780B-3D32-236B-3A46-5A1C766BB34E}"/>
                  </a:ext>
                </a:extLst>
              </p:cNvPr>
              <p:cNvSpPr/>
              <p:nvPr/>
            </p:nvSpPr>
            <p:spPr>
              <a:xfrm>
                <a:off x="5010814" y="3297741"/>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Hexagon 16">
                <a:extLst>
                  <a:ext uri="{FF2B5EF4-FFF2-40B4-BE49-F238E27FC236}">
                    <a16:creationId xmlns:a16="http://schemas.microsoft.com/office/drawing/2014/main" xmlns="" id="{4DA78432-7638-4A53-07FE-11801B9A2B47}"/>
                  </a:ext>
                </a:extLst>
              </p:cNvPr>
              <p:cNvSpPr/>
              <p:nvPr/>
            </p:nvSpPr>
            <p:spPr>
              <a:xfrm>
                <a:off x="3904754" y="2663855"/>
                <a:ext cx="1417320" cy="1271016"/>
              </a:xfrm>
              <a:prstGeom prst="hexagon">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20" name="Graphic 19">
                <a:extLst>
                  <a:ext uri="{FF2B5EF4-FFF2-40B4-BE49-F238E27FC236}">
                    <a16:creationId xmlns:a16="http://schemas.microsoft.com/office/drawing/2014/main" xmlns="" id="{7F106772-9C70-9328-A4C9-07AA47A4AB39}"/>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754863" y="1521297"/>
                <a:ext cx="597533" cy="597533"/>
              </a:xfrm>
              <a:prstGeom prst="rect">
                <a:avLst/>
              </a:prstGeom>
            </p:spPr>
          </p:pic>
          <p:pic>
            <p:nvPicPr>
              <p:cNvPr id="22" name="Graphic 21">
                <a:extLst>
                  <a:ext uri="{FF2B5EF4-FFF2-40B4-BE49-F238E27FC236}">
                    <a16:creationId xmlns:a16="http://schemas.microsoft.com/office/drawing/2014/main" xmlns="" id="{C63CCB09-ECFF-A36A-EF0A-B665975AA483}"/>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6550161" y="1593009"/>
                <a:ext cx="548113" cy="548113"/>
              </a:xfrm>
              <a:prstGeom prst="rect">
                <a:avLst/>
              </a:prstGeom>
            </p:spPr>
          </p:pic>
          <p:pic>
            <p:nvPicPr>
              <p:cNvPr id="24" name="Graphic 23">
                <a:extLst>
                  <a:ext uri="{FF2B5EF4-FFF2-40B4-BE49-F238E27FC236}">
                    <a16:creationId xmlns:a16="http://schemas.microsoft.com/office/drawing/2014/main" xmlns="" id="{486958ED-DDEC-B54F-764C-C9D23CDFEFCD}"/>
                  </a:ext>
                </a:extLst>
              </p:cNvPr>
              <p:cNvPicPr>
                <a:picLocks noChangeAspect="1"/>
              </p:cNvPicPr>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4334545" y="2876274"/>
                <a:ext cx="564564" cy="564564"/>
              </a:xfrm>
              <a:prstGeom prst="rect">
                <a:avLst/>
              </a:prstGeom>
            </p:spPr>
          </p:pic>
          <p:pic>
            <p:nvPicPr>
              <p:cNvPr id="26" name="Graphic 25">
                <a:extLst>
                  <a:ext uri="{FF2B5EF4-FFF2-40B4-BE49-F238E27FC236}">
                    <a16:creationId xmlns:a16="http://schemas.microsoft.com/office/drawing/2014/main" xmlns="" id="{750848B1-77DE-B618-CD4E-C8ED3262ACBC}"/>
                  </a:ext>
                </a:extLst>
              </p:cNvPr>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7736326" y="2234995"/>
                <a:ext cx="473054" cy="473054"/>
              </a:xfrm>
              <a:prstGeom prst="rect">
                <a:avLst/>
              </a:prstGeom>
            </p:spPr>
          </p:pic>
          <p:pic>
            <p:nvPicPr>
              <p:cNvPr id="28" name="Graphic 27">
                <a:extLst>
                  <a:ext uri="{FF2B5EF4-FFF2-40B4-BE49-F238E27FC236}">
                    <a16:creationId xmlns:a16="http://schemas.microsoft.com/office/drawing/2014/main" xmlns="" id="{62126E02-BDC0-7424-6894-7766B79BEB25}"/>
                  </a:ext>
                </a:extLst>
              </p:cNvPr>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10958536" y="2815304"/>
                <a:ext cx="584055" cy="584055"/>
              </a:xfrm>
              <a:prstGeom prst="rect">
                <a:avLst/>
              </a:prstGeom>
            </p:spPr>
          </p:pic>
          <p:pic>
            <p:nvPicPr>
              <p:cNvPr id="3" name="Graphic 2">
                <a:extLst>
                  <a:ext uri="{FF2B5EF4-FFF2-40B4-BE49-F238E27FC236}">
                    <a16:creationId xmlns:a16="http://schemas.microsoft.com/office/drawing/2014/main" xmlns="" id="{3CFAA4F7-0617-2260-C439-3E66D3C3C432}"/>
                  </a:ext>
                </a:extLst>
              </p:cNvPr>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6562789" y="2834228"/>
                <a:ext cx="525631" cy="536631"/>
              </a:xfrm>
              <a:prstGeom prst="rect">
                <a:avLst/>
              </a:prstGeom>
            </p:spPr>
          </p:pic>
          <p:pic>
            <p:nvPicPr>
              <p:cNvPr id="5" name="Graphic 4">
                <a:extLst>
                  <a:ext uri="{FF2B5EF4-FFF2-40B4-BE49-F238E27FC236}">
                    <a16:creationId xmlns:a16="http://schemas.microsoft.com/office/drawing/2014/main" xmlns="" id="{AC509089-8FBB-70C7-D77F-D3304CF0F554}"/>
                  </a:ext>
                </a:extLst>
              </p:cNvPr>
              <p:cNvPicPr>
                <a:picLocks noChangeAspect="1"/>
              </p:cNvPicPr>
              <p:nvPr/>
            </p:nvPicPr>
            <p:blipFill>
              <a:blip r:embed="rId8" cstate="print">
                <a:biLevel thresh="25000"/>
                <a:extLst>
                  <a:ext uri="{BEBA8EAE-BF5A-486C-A8C5-ECC9F3942E4B}">
                    <a14:imgProps xmlns:a14="http://schemas.microsoft.com/office/drawing/2010/main">
                      <a14:imgLayer r:embed="rId9">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776703" y="2871100"/>
                <a:ext cx="533147" cy="533148"/>
              </a:xfrm>
              <a:prstGeom prst="rect">
                <a:avLst/>
              </a:prstGeom>
            </p:spPr>
          </p:pic>
          <p:pic>
            <p:nvPicPr>
              <p:cNvPr id="21" name="Graphic 20">
                <a:extLst>
                  <a:ext uri="{FF2B5EF4-FFF2-40B4-BE49-F238E27FC236}">
                    <a16:creationId xmlns:a16="http://schemas.microsoft.com/office/drawing/2014/main" xmlns="" id="{13391F56-328E-8116-EDE3-1A527B7EA2D8}"/>
                  </a:ext>
                </a:extLst>
              </p:cNvPr>
              <p:cNvPicPr>
                <a:picLocks noChangeAspect="1"/>
              </p:cNvPicPr>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5532951" y="3466432"/>
                <a:ext cx="463983" cy="531947"/>
              </a:xfrm>
              <a:prstGeom prst="rect">
                <a:avLst/>
              </a:prstGeom>
            </p:spPr>
          </p:pic>
          <p:sp>
            <p:nvSpPr>
              <p:cNvPr id="23" name="TextBox 22">
                <a:extLst>
                  <a:ext uri="{FF2B5EF4-FFF2-40B4-BE49-F238E27FC236}">
                    <a16:creationId xmlns:a16="http://schemas.microsoft.com/office/drawing/2014/main" xmlns="" id="{E0414311-86F6-485A-A587-278CE4C00A11}"/>
                  </a:ext>
                </a:extLst>
              </p:cNvPr>
              <p:cNvSpPr txBox="1"/>
              <p:nvPr/>
            </p:nvSpPr>
            <p:spPr>
              <a:xfrm>
                <a:off x="4183608" y="3441835"/>
                <a:ext cx="845323" cy="483762"/>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Cyber Security</a:t>
                </a:r>
              </a:p>
            </p:txBody>
          </p:sp>
          <p:sp>
            <p:nvSpPr>
              <p:cNvPr id="25" name="TextBox 24">
                <a:extLst>
                  <a:ext uri="{FF2B5EF4-FFF2-40B4-BE49-F238E27FC236}">
                    <a16:creationId xmlns:a16="http://schemas.microsoft.com/office/drawing/2014/main" xmlns="" id="{EFF2DE3F-75ED-5230-CF44-F145F51BDA98}"/>
                  </a:ext>
                </a:extLst>
              </p:cNvPr>
              <p:cNvSpPr txBox="1"/>
              <p:nvPr/>
            </p:nvSpPr>
            <p:spPr>
              <a:xfrm>
                <a:off x="8608808" y="3376663"/>
                <a:ext cx="958818" cy="483762"/>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Wireless Security</a:t>
                </a:r>
              </a:p>
            </p:txBody>
          </p:sp>
          <p:sp>
            <p:nvSpPr>
              <p:cNvPr id="27" name="TextBox 26">
                <a:extLst>
                  <a:ext uri="{FF2B5EF4-FFF2-40B4-BE49-F238E27FC236}">
                    <a16:creationId xmlns:a16="http://schemas.microsoft.com/office/drawing/2014/main" xmlns="" id="{C4C0EDBF-B1A0-062E-3FD2-5785DBAD5BDC}"/>
                  </a:ext>
                </a:extLst>
              </p:cNvPr>
              <p:cNvSpPr txBox="1"/>
              <p:nvPr/>
            </p:nvSpPr>
            <p:spPr>
              <a:xfrm>
                <a:off x="6175228" y="2075839"/>
                <a:ext cx="1317843" cy="424428"/>
              </a:xfrm>
              <a:prstGeom prst="rect">
                <a:avLst/>
              </a:prstGeom>
              <a:noFill/>
            </p:spPr>
            <p:txBody>
              <a:bodyPr wrap="square" rtlCol="0">
                <a:spAutoFit/>
              </a:bodyPr>
              <a:lstStyle/>
              <a:p>
                <a:pPr lvl="0" algn="ctr">
                  <a:defRPr/>
                </a:pPr>
                <a:r>
                  <a:rPr lang="en-US" sz="1200" b="1" dirty="0"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Computer</a:t>
                </a:r>
              </a:p>
              <a:p>
                <a:pPr lvl="0" algn="ctr">
                  <a:defRPr/>
                </a:pPr>
                <a:r>
                  <a:rPr lang="en-US" sz="1200" b="1" dirty="0"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Security</a:t>
                </a:r>
                <a:endPar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endParaRPr>
              </a:p>
            </p:txBody>
          </p:sp>
        </p:grpSp>
        <p:sp>
          <p:nvSpPr>
            <p:cNvPr id="29" name="TextBox 28">
              <a:extLst>
                <a:ext uri="{FF2B5EF4-FFF2-40B4-BE49-F238E27FC236}">
                  <a16:creationId xmlns:a16="http://schemas.microsoft.com/office/drawing/2014/main" xmlns="" id="{C4C0EDBF-B1A0-062E-3FD2-5785DBAD5BDC}"/>
                </a:ext>
              </a:extLst>
            </p:cNvPr>
            <p:cNvSpPr txBox="1"/>
            <p:nvPr/>
          </p:nvSpPr>
          <p:spPr>
            <a:xfrm>
              <a:off x="9369848" y="3892159"/>
              <a:ext cx="908678" cy="516059"/>
            </a:xfrm>
            <a:prstGeom prst="rect">
              <a:avLst/>
            </a:prstGeom>
            <a:noFill/>
          </p:spPr>
          <p:txBody>
            <a:bodyPr wrap="square" rtlCol="0">
              <a:spAutoFit/>
            </a:bodyPr>
            <a:lstStyle/>
            <a:p>
              <a:pPr lvl="0" algn="ctr">
                <a:defRPr/>
              </a:pPr>
              <a:r>
                <a:rPr lang="en-US" sz="1200" b="1" dirty="0" err="1"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Divice</a:t>
              </a:r>
              <a:endParaRPr lang="en-US" sz="1200" b="1" dirty="0"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endParaRPr>
            </a:p>
            <a:p>
              <a:pPr lvl="0" algn="ctr">
                <a:defRPr/>
              </a:pPr>
              <a:r>
                <a:rPr lang="en-US" sz="1200" b="1" dirty="0"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Security</a:t>
              </a:r>
              <a:endPar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xmlns="" id="{E0414311-86F6-485A-A587-278CE4C00A11}"/>
                </a:ext>
              </a:extLst>
            </p:cNvPr>
            <p:cNvSpPr txBox="1"/>
            <p:nvPr/>
          </p:nvSpPr>
          <p:spPr>
            <a:xfrm>
              <a:off x="3060009" y="4512404"/>
              <a:ext cx="1220004" cy="276999"/>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Data Protection</a:t>
              </a:r>
            </a:p>
          </p:txBody>
        </p:sp>
        <p:sp>
          <p:nvSpPr>
            <p:cNvPr id="31" name="TextBox 30">
              <a:extLst>
                <a:ext uri="{FF2B5EF4-FFF2-40B4-BE49-F238E27FC236}">
                  <a16:creationId xmlns:a16="http://schemas.microsoft.com/office/drawing/2014/main" xmlns="" id="{EFF2DE3F-75ED-5230-CF44-F145F51BDA98}"/>
                </a:ext>
              </a:extLst>
            </p:cNvPr>
            <p:cNvSpPr txBox="1"/>
            <p:nvPr/>
          </p:nvSpPr>
          <p:spPr>
            <a:xfrm>
              <a:off x="4132419" y="3812268"/>
              <a:ext cx="1565239" cy="516059"/>
            </a:xfrm>
            <a:prstGeom prst="rect">
              <a:avLst/>
            </a:prstGeom>
            <a:noFill/>
          </p:spPr>
          <p:txBody>
            <a:bodyPr wrap="square" rtlCol="0">
              <a:spAutoFit/>
            </a:bodyPr>
            <a:lstStyle/>
            <a:p>
              <a:pPr lvl="0" algn="ctr">
                <a:defRPr/>
              </a:pPr>
              <a:r>
                <a:rPr lang="en-US" sz="115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Ensures National Security</a:t>
              </a:r>
            </a:p>
          </p:txBody>
        </p:sp>
        <p:sp>
          <p:nvSpPr>
            <p:cNvPr id="32" name="TextBox 31">
              <a:extLst>
                <a:ext uri="{FF2B5EF4-FFF2-40B4-BE49-F238E27FC236}">
                  <a16:creationId xmlns:a16="http://schemas.microsoft.com/office/drawing/2014/main" xmlns="" id="{EFF2DE3F-75ED-5230-CF44-F145F51BDA98}"/>
                </a:ext>
              </a:extLst>
            </p:cNvPr>
            <p:cNvSpPr txBox="1"/>
            <p:nvPr/>
          </p:nvSpPr>
          <p:spPr>
            <a:xfrm>
              <a:off x="5601631" y="3153834"/>
              <a:ext cx="1087858" cy="526204"/>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Threat Protection</a:t>
              </a:r>
            </a:p>
          </p:txBody>
        </p:sp>
        <p:sp>
          <p:nvSpPr>
            <p:cNvPr id="33" name="TextBox 32">
              <a:extLst>
                <a:ext uri="{FF2B5EF4-FFF2-40B4-BE49-F238E27FC236}">
                  <a16:creationId xmlns:a16="http://schemas.microsoft.com/office/drawing/2014/main" xmlns="" id="{C4C0EDBF-B1A0-062E-3FD2-5785DBAD5BDC}"/>
                </a:ext>
              </a:extLst>
            </p:cNvPr>
            <p:cNvSpPr txBox="1"/>
            <p:nvPr/>
          </p:nvSpPr>
          <p:spPr>
            <a:xfrm>
              <a:off x="6877551" y="2506894"/>
              <a:ext cx="963781" cy="526204"/>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Mobile Security</a:t>
              </a:r>
            </a:p>
          </p:txBody>
        </p:sp>
        <p:pic>
          <p:nvPicPr>
            <p:cNvPr id="34" name="Graphic 21">
              <a:extLst>
                <a:ext uri="{FF2B5EF4-FFF2-40B4-BE49-F238E27FC236}">
                  <a16:creationId xmlns:a16="http://schemas.microsoft.com/office/drawing/2014/main" xmlns="" id="{C63CCB09-ECFF-A36A-EF0A-B665975AA483}"/>
                </a:ext>
              </a:extLst>
            </p:cNvPr>
            <p:cNvPicPr>
              <a:picLocks noChangeAspect="1"/>
            </p:cNvPicPr>
            <p:nvPr/>
          </p:nvPicPr>
          <p:blipFill>
            <a:blip r:embed="rId11" cstate="print">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val="0"/>
                </a:ext>
              </a:extLst>
            </a:blip>
            <a:stretch>
              <a:fillRect/>
            </a:stretch>
          </p:blipFill>
          <p:spPr>
            <a:xfrm>
              <a:off x="8286123" y="2550221"/>
              <a:ext cx="596201" cy="596201"/>
            </a:xfrm>
            <a:prstGeom prst="rect">
              <a:avLst/>
            </a:prstGeom>
          </p:spPr>
        </p:pic>
        <p:pic>
          <p:nvPicPr>
            <p:cNvPr id="35" name="Graphic 21">
              <a:extLst>
                <a:ext uri="{FF2B5EF4-FFF2-40B4-BE49-F238E27FC236}">
                  <a16:creationId xmlns:a16="http://schemas.microsoft.com/office/drawing/2014/main" xmlns="" id="{C63CCB09-ECFF-A36A-EF0A-B665975AA483}"/>
                </a:ext>
              </a:extLst>
            </p:cNvPr>
            <p:cNvPicPr>
              <a:picLocks noChangeAspect="1"/>
            </p:cNvPicPr>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5837103" y="3908130"/>
              <a:ext cx="596201" cy="596201"/>
            </a:xfrm>
            <a:prstGeom prst="rect">
              <a:avLst/>
            </a:prstGeom>
          </p:spPr>
        </p:pic>
        <p:pic>
          <p:nvPicPr>
            <p:cNvPr id="36" name="Graphic 21">
              <a:extLst>
                <a:ext uri="{FF2B5EF4-FFF2-40B4-BE49-F238E27FC236}">
                  <a16:creationId xmlns:a16="http://schemas.microsoft.com/office/drawing/2014/main" xmlns="" id="{C63CCB09-ECFF-A36A-EF0A-B665975AA483}"/>
                </a:ext>
              </a:extLst>
            </p:cNvPr>
            <p:cNvPicPr>
              <a:picLocks noChangeAspect="1"/>
            </p:cNvPicPr>
            <p:nvPr/>
          </p:nvPicPr>
          <p:blipFill>
            <a:blip r:embed="rId14" cstate="print">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val="0"/>
                </a:ext>
              </a:extLst>
            </a:blip>
            <a:stretch>
              <a:fillRect/>
            </a:stretch>
          </p:blipFill>
          <p:spPr>
            <a:xfrm>
              <a:off x="7027676" y="4612336"/>
              <a:ext cx="608677" cy="584916"/>
            </a:xfrm>
            <a:prstGeom prst="rect">
              <a:avLst/>
            </a:prstGeom>
          </p:spPr>
        </p:pic>
        <p:pic>
          <p:nvPicPr>
            <p:cNvPr id="37" name="Graphic 21">
              <a:extLst>
                <a:ext uri="{FF2B5EF4-FFF2-40B4-BE49-F238E27FC236}">
                  <a16:creationId xmlns:a16="http://schemas.microsoft.com/office/drawing/2014/main" xmlns="" id="{C63CCB09-ECFF-A36A-EF0A-B665975AA483}"/>
                </a:ext>
              </a:extLst>
            </p:cNvPr>
            <p:cNvPicPr>
              <a:picLocks noChangeAspect="1"/>
            </p:cNvPicPr>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4626692" y="4707657"/>
              <a:ext cx="596201" cy="596201"/>
            </a:xfrm>
            <a:prstGeom prst="rect">
              <a:avLst/>
            </a:prstGeom>
          </p:spPr>
        </p:pic>
        <p:sp>
          <p:nvSpPr>
            <p:cNvPr id="38" name="TextBox 37">
              <a:extLst>
                <a:ext uri="{FF2B5EF4-FFF2-40B4-BE49-F238E27FC236}">
                  <a16:creationId xmlns:a16="http://schemas.microsoft.com/office/drawing/2014/main" xmlns="" id="{E0414311-86F6-485A-A587-278CE4C00A11}"/>
                </a:ext>
              </a:extLst>
            </p:cNvPr>
            <p:cNvSpPr txBox="1"/>
            <p:nvPr/>
          </p:nvSpPr>
          <p:spPr>
            <a:xfrm>
              <a:off x="4427059" y="5237442"/>
              <a:ext cx="995466" cy="526204"/>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Network Security</a:t>
              </a:r>
            </a:p>
          </p:txBody>
        </p:sp>
        <p:sp>
          <p:nvSpPr>
            <p:cNvPr id="39" name="TextBox 38">
              <a:extLst>
                <a:ext uri="{FF2B5EF4-FFF2-40B4-BE49-F238E27FC236}">
                  <a16:creationId xmlns:a16="http://schemas.microsoft.com/office/drawing/2014/main" xmlns="" id="{E0414311-86F6-485A-A587-278CE4C00A11}"/>
                </a:ext>
              </a:extLst>
            </p:cNvPr>
            <p:cNvSpPr txBox="1"/>
            <p:nvPr/>
          </p:nvSpPr>
          <p:spPr>
            <a:xfrm>
              <a:off x="5535073" y="4506833"/>
              <a:ext cx="1309199" cy="526204"/>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Information Security</a:t>
              </a:r>
            </a:p>
          </p:txBody>
        </p:sp>
        <p:sp>
          <p:nvSpPr>
            <p:cNvPr id="40" name="TextBox 39">
              <a:extLst>
                <a:ext uri="{FF2B5EF4-FFF2-40B4-BE49-F238E27FC236}">
                  <a16:creationId xmlns:a16="http://schemas.microsoft.com/office/drawing/2014/main" xmlns="" id="{E0414311-86F6-485A-A587-278CE4C00A11}"/>
                </a:ext>
              </a:extLst>
            </p:cNvPr>
            <p:cNvSpPr txBox="1"/>
            <p:nvPr/>
          </p:nvSpPr>
          <p:spPr>
            <a:xfrm>
              <a:off x="6717248" y="5174996"/>
              <a:ext cx="1303222" cy="519188"/>
            </a:xfrm>
            <a:prstGeom prst="rect">
              <a:avLst/>
            </a:prstGeom>
            <a:noFill/>
          </p:spPr>
          <p:txBody>
            <a:bodyPr wrap="square" rtlCol="0">
              <a:spAutoFit/>
            </a:bodyPr>
            <a:lstStyle/>
            <a:p>
              <a:pPr lvl="0" algn="ctr">
                <a:defRPr/>
              </a:pPr>
              <a:r>
                <a:rPr lang="en-US" sz="1180" b="1" dirty="0" smtClean="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Identity Management</a:t>
              </a:r>
              <a:endParaRPr lang="en-US" sz="118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1" name="TextBox 40">
              <a:extLst>
                <a:ext uri="{FF2B5EF4-FFF2-40B4-BE49-F238E27FC236}">
                  <a16:creationId xmlns:a16="http://schemas.microsoft.com/office/drawing/2014/main" xmlns="" id="{EFF2DE3F-75ED-5230-CF44-F145F51BDA98}"/>
                </a:ext>
              </a:extLst>
            </p:cNvPr>
            <p:cNvSpPr txBox="1"/>
            <p:nvPr/>
          </p:nvSpPr>
          <p:spPr>
            <a:xfrm>
              <a:off x="8147732" y="3153557"/>
              <a:ext cx="894279" cy="516059"/>
            </a:xfrm>
            <a:prstGeom prst="rect">
              <a:avLst/>
            </a:prstGeom>
            <a:noFill/>
          </p:spPr>
          <p:txBody>
            <a:bodyPr wrap="square" rtlCol="0">
              <a:spAutoFit/>
            </a:bodyPr>
            <a:lstStyle/>
            <a:p>
              <a:pPr lvl="0" algn="ctr">
                <a:defRPr/>
              </a:pPr>
              <a:r>
                <a:rPr lang="en-US" sz="1200" b="1"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Cloud Security</a:t>
              </a:r>
            </a:p>
          </p:txBody>
        </p:sp>
      </p:grpSp>
    </p:spTree>
    <p:extLst>
      <p:ext uri="{BB962C8B-B14F-4D97-AF65-F5344CB8AC3E}">
        <p14:creationId xmlns:p14="http://schemas.microsoft.com/office/powerpoint/2010/main" val="20833227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4000">
              <a:srgbClr val="3038A8"/>
            </a:gs>
            <a:gs pos="0">
              <a:srgbClr val="2C349C"/>
            </a:gs>
          </a:gsLst>
          <a:lin ang="162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8CD75B5-1B04-8581-744B-117552104FEB}"/>
              </a:ext>
            </a:extLst>
          </p:cNvPr>
          <p:cNvSpPr>
            <a:spLocks noGrp="1"/>
          </p:cNvSpPr>
          <p:nvPr>
            <p:ph type="title"/>
          </p:nvPr>
        </p:nvSpPr>
        <p:spPr>
          <a:xfrm>
            <a:off x="838200" y="139243"/>
            <a:ext cx="10515600" cy="1325563"/>
          </a:xfrm>
        </p:spPr>
        <p:txBody>
          <a:bodyPr>
            <a:normAutofit/>
          </a:bodyPr>
          <a:lstStyle/>
          <a:p>
            <a:pPr algn="ctr"/>
            <a:r>
              <a:rPr lang="en-US" sz="4800" b="1" spc="600"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Cyber Security</a:t>
            </a:r>
            <a:endParaRPr lang="en-US" sz="48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352705650"/>
              </p:ext>
            </p:extLst>
          </p:nvPr>
        </p:nvGraphicFramePr>
        <p:xfrm>
          <a:off x="1705546" y="1799844"/>
          <a:ext cx="8780908" cy="3917228"/>
        </p:xfrm>
        <a:graphic>
          <a:graphicData uri="http://schemas.openxmlformats.org/drawingml/2006/table">
            <a:tbl>
              <a:tblPr firstRow="1" bandRow="1">
                <a:tableStyleId>{2D5ABB26-0587-4C30-8999-92F81FD0307C}</a:tableStyleId>
              </a:tblPr>
              <a:tblGrid>
                <a:gridCol w="3228404"/>
                <a:gridCol w="3086100"/>
                <a:gridCol w="2466404"/>
              </a:tblGrid>
              <a:tr h="835615">
                <a:tc>
                  <a:txBody>
                    <a:bodyPr/>
                    <a:lstStyle/>
                    <a:p>
                      <a:pPr algn="ctr"/>
                      <a:r>
                        <a:rPr lang="en-US" sz="2600" b="1" dirty="0" smtClean="0">
                          <a:solidFill>
                            <a:schemeClr val="bg1"/>
                          </a:solidFill>
                          <a:latin typeface="Times New Roman" panose="02020603050405020304" pitchFamily="18" charset="0"/>
                          <a:cs typeface="Times New Roman" panose="02020603050405020304" pitchFamily="18" charset="0"/>
                        </a:rPr>
                        <a:t>SUBMITTED to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sz="2600" b="1" dirty="0" smtClean="0">
                          <a:solidFill>
                            <a:schemeClr val="bg1"/>
                          </a:solidFill>
                          <a:latin typeface="Times New Roman" panose="02020603050405020304" pitchFamily="18" charset="0"/>
                          <a:cs typeface="Times New Roman" panose="02020603050405020304" pitchFamily="18" charset="0"/>
                        </a:rPr>
                        <a:t>SUBMITTED BY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600" b="1" dirty="0" smtClean="0">
                          <a:solidFill>
                            <a:schemeClr val="bg1"/>
                          </a:solidFill>
                          <a:latin typeface="Times New Roman" panose="02020603050405020304" pitchFamily="18" charset="0"/>
                          <a:cs typeface="Times New Roman" panose="02020603050405020304" pitchFamily="18" charset="0"/>
                        </a:rPr>
                        <a:t>ID 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800398">
                <a:tc>
                  <a:txBody>
                    <a:bodyPr/>
                    <a:lstStyle/>
                    <a:p>
                      <a:r>
                        <a:rPr lang="en-US" sz="2100" b="1" dirty="0" smtClean="0">
                          <a:solidFill>
                            <a:schemeClr val="bg1"/>
                          </a:solidFill>
                          <a:latin typeface="Times New Roman" panose="02020603050405020304" pitchFamily="18" charset="0"/>
                          <a:cs typeface="Times New Roman" panose="02020603050405020304" pitchFamily="18" charset="0"/>
                        </a:rPr>
                        <a:t>Mr. </a:t>
                      </a:r>
                      <a:r>
                        <a:rPr lang="en-US" sz="2100" b="1" dirty="0" err="1" smtClean="0">
                          <a:solidFill>
                            <a:schemeClr val="bg1"/>
                          </a:solidFill>
                          <a:latin typeface="Times New Roman" panose="02020603050405020304" pitchFamily="18" charset="0"/>
                          <a:cs typeface="Times New Roman" panose="02020603050405020304" pitchFamily="18" charset="0"/>
                        </a:rPr>
                        <a:t>Tashreef</a:t>
                      </a:r>
                      <a:r>
                        <a:rPr lang="en-US" sz="2100" b="1" dirty="0" smtClean="0">
                          <a:solidFill>
                            <a:schemeClr val="bg1"/>
                          </a:solidFill>
                          <a:latin typeface="Times New Roman" panose="02020603050405020304" pitchFamily="18" charset="0"/>
                          <a:cs typeface="Times New Roman" panose="02020603050405020304" pitchFamily="18" charset="0"/>
                        </a:rPr>
                        <a:t> Muhammad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r>
                        <a:rPr lang="en-US" sz="2100" b="1" dirty="0" smtClean="0">
                          <a:solidFill>
                            <a:schemeClr val="bg1"/>
                          </a:solidFill>
                          <a:latin typeface="Times New Roman" panose="02020603050405020304" pitchFamily="18" charset="0"/>
                          <a:cs typeface="Times New Roman" panose="02020603050405020304" pitchFamily="18" charset="0"/>
                        </a:rPr>
                        <a:t>Taus Elham Tamjid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100" b="1" dirty="0" smtClean="0">
                          <a:solidFill>
                            <a:schemeClr val="bg1"/>
                          </a:solidFill>
                          <a:latin typeface="Times New Roman" panose="02020603050405020304" pitchFamily="18" charset="0"/>
                          <a:cs typeface="Times New Roman" panose="02020603050405020304" pitchFamily="18" charset="0"/>
                        </a:rPr>
                        <a:t>2026000000195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774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1" dirty="0" smtClean="0">
                          <a:solidFill>
                            <a:schemeClr val="bg1"/>
                          </a:solidFill>
                          <a:latin typeface="Times New Roman" panose="02020603050405020304" pitchFamily="18" charset="0"/>
                          <a:cs typeface="Times New Roman" panose="02020603050405020304" pitchFamily="18" charset="0"/>
                        </a:rPr>
                        <a:t>LECTURER AT</a:t>
                      </a:r>
                      <a:r>
                        <a:rPr lang="en-US" sz="2100" b="1" baseline="0" dirty="0" smtClean="0">
                          <a:solidFill>
                            <a:schemeClr val="bg1"/>
                          </a:solidFill>
                          <a:latin typeface="Times New Roman" panose="02020603050405020304" pitchFamily="18" charset="0"/>
                          <a:cs typeface="Times New Roman" panose="02020603050405020304" pitchFamily="18" charset="0"/>
                        </a:rPr>
                        <a:t> DEPARTMENT OF CSE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r>
                        <a:rPr lang="en-US" sz="2100" b="1" dirty="0" err="1" smtClean="0">
                          <a:solidFill>
                            <a:schemeClr val="bg1"/>
                          </a:solidFill>
                          <a:latin typeface="Times New Roman" panose="02020603050405020304" pitchFamily="18" charset="0"/>
                          <a:cs typeface="Times New Roman" panose="02020603050405020304" pitchFamily="18" charset="0"/>
                        </a:rPr>
                        <a:t>Ratul</a:t>
                      </a:r>
                      <a:r>
                        <a:rPr lang="en-US" sz="2100" b="1" dirty="0" smtClean="0">
                          <a:solidFill>
                            <a:schemeClr val="bg1"/>
                          </a:solidFill>
                          <a:latin typeface="Times New Roman" panose="02020603050405020304" pitchFamily="18" charset="0"/>
                          <a:cs typeface="Times New Roman" panose="02020603050405020304" pitchFamily="18" charset="0"/>
                        </a:rPr>
                        <a:t> </a:t>
                      </a:r>
                      <a:r>
                        <a:rPr lang="en-US" sz="2100" b="1" dirty="0" err="1" smtClean="0">
                          <a:solidFill>
                            <a:schemeClr val="bg1"/>
                          </a:solidFill>
                          <a:latin typeface="Times New Roman" panose="02020603050405020304" pitchFamily="18" charset="0"/>
                          <a:cs typeface="Times New Roman" panose="02020603050405020304" pitchFamily="18" charset="0"/>
                        </a:rPr>
                        <a:t>Ahmmed</a:t>
                      </a:r>
                      <a:endParaRPr lang="en-US" sz="2100" b="1" dirty="0" smtClean="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100" b="1" dirty="0" smtClean="0">
                          <a:solidFill>
                            <a:schemeClr val="bg1"/>
                          </a:solidFill>
                          <a:latin typeface="Times New Roman" panose="02020603050405020304" pitchFamily="18" charset="0"/>
                          <a:cs typeface="Times New Roman" panose="02020603050405020304" pitchFamily="18" charset="0"/>
                        </a:rPr>
                        <a:t>2026000000189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819150">
                <a:tc rowSpan="2">
                  <a:txBody>
                    <a:bodyPr/>
                    <a:lstStyle/>
                    <a:p>
                      <a:r>
                        <a:rPr lang="en-US" sz="2100" b="1" dirty="0" smtClean="0">
                          <a:solidFill>
                            <a:schemeClr val="bg1"/>
                          </a:solidFill>
                          <a:latin typeface="Times New Roman" panose="02020603050405020304" pitchFamily="18" charset="0"/>
                          <a:cs typeface="Times New Roman" panose="02020603050405020304" pitchFamily="18" charset="0"/>
                        </a:rPr>
                        <a:t>SOUTHEAST UNIVERSITY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r>
                        <a:rPr lang="en-US" sz="2100" b="1" dirty="0" err="1" smtClean="0">
                          <a:solidFill>
                            <a:schemeClr val="bg1"/>
                          </a:solidFill>
                          <a:latin typeface="Times New Roman" panose="02020603050405020304" pitchFamily="18" charset="0"/>
                          <a:cs typeface="Times New Roman" panose="02020603050405020304" pitchFamily="18" charset="0"/>
                        </a:rPr>
                        <a:t>Saif</a:t>
                      </a:r>
                      <a:r>
                        <a:rPr lang="en-US" sz="2100" b="1" dirty="0" smtClean="0">
                          <a:solidFill>
                            <a:schemeClr val="bg1"/>
                          </a:solidFill>
                          <a:latin typeface="Times New Roman" panose="02020603050405020304" pitchFamily="18" charset="0"/>
                          <a:cs typeface="Times New Roman" panose="02020603050405020304" pitchFamily="18" charset="0"/>
                        </a:rPr>
                        <a:t> Ibn Rashid </a:t>
                      </a:r>
                      <a:r>
                        <a:rPr lang="en-US" sz="2100" b="1" dirty="0" err="1" smtClean="0">
                          <a:solidFill>
                            <a:schemeClr val="bg1"/>
                          </a:solidFill>
                          <a:latin typeface="Times New Roman" panose="02020603050405020304" pitchFamily="18" charset="0"/>
                          <a:cs typeface="Times New Roman" panose="02020603050405020304" pitchFamily="18" charset="0"/>
                        </a:rPr>
                        <a:t>Tahsin</a:t>
                      </a:r>
                      <a:endParaRPr lang="en-US" sz="2100" b="1" dirty="0" smtClean="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100" b="1" dirty="0" smtClean="0">
                          <a:solidFill>
                            <a:schemeClr val="bg1"/>
                          </a:solidFill>
                          <a:latin typeface="Times New Roman" panose="02020603050405020304" pitchFamily="18" charset="0"/>
                          <a:cs typeface="Times New Roman" panose="02020603050405020304" pitchFamily="18" charset="0"/>
                        </a:rPr>
                        <a:t>2026000000185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687872">
                <a:tc vMerge="1">
                  <a:txBody>
                    <a:bodyPr/>
                    <a:lstStyle/>
                    <a:p>
                      <a:endParaRPr lang="en-US"/>
                    </a:p>
                  </a:txBody>
                  <a:tcPr/>
                </a:tc>
                <a:tc>
                  <a:txBody>
                    <a:bodyPr/>
                    <a:lstStyle/>
                    <a:p>
                      <a:pPr algn="l"/>
                      <a:r>
                        <a:rPr lang="en-US" sz="2100" b="1" dirty="0" err="1" smtClean="0">
                          <a:solidFill>
                            <a:schemeClr val="bg1"/>
                          </a:solidFill>
                          <a:latin typeface="Times New Roman" panose="02020603050405020304" pitchFamily="18" charset="0"/>
                          <a:cs typeface="Times New Roman" panose="02020603050405020304" pitchFamily="18" charset="0"/>
                        </a:rPr>
                        <a:t>Sumaiya</a:t>
                      </a:r>
                      <a:r>
                        <a:rPr lang="en-US" sz="2100" b="1" dirty="0" smtClean="0">
                          <a:solidFill>
                            <a:schemeClr val="bg1"/>
                          </a:solidFill>
                          <a:latin typeface="Times New Roman" panose="02020603050405020304" pitchFamily="18" charset="0"/>
                          <a:cs typeface="Times New Roman" panose="02020603050405020304" pitchFamily="18" charset="0"/>
                        </a:rPr>
                        <a:t> </a:t>
                      </a:r>
                      <a:r>
                        <a:rPr lang="en-US" sz="2100" b="1" dirty="0" err="1" smtClean="0">
                          <a:solidFill>
                            <a:schemeClr val="bg1"/>
                          </a:solidFill>
                          <a:latin typeface="Times New Roman" panose="02020603050405020304" pitchFamily="18" charset="0"/>
                          <a:cs typeface="Times New Roman" panose="02020603050405020304" pitchFamily="18" charset="0"/>
                        </a:rPr>
                        <a:t>Akter</a:t>
                      </a:r>
                      <a:r>
                        <a:rPr lang="en-US" sz="2100" b="1" dirty="0" smtClean="0">
                          <a:solidFill>
                            <a:schemeClr val="bg1"/>
                          </a:solidFill>
                          <a:latin typeface="Times New Roman" panose="02020603050405020304" pitchFamily="18" charset="0"/>
                          <a:cs typeface="Times New Roman" panose="02020603050405020304" pitchFamily="18" charset="0"/>
                        </a:rPr>
                        <a:t> </a:t>
                      </a:r>
                      <a:r>
                        <a:rPr lang="en-US" sz="2100" b="1" dirty="0" err="1" smtClean="0">
                          <a:solidFill>
                            <a:schemeClr val="bg1"/>
                          </a:solidFill>
                          <a:latin typeface="Times New Roman" panose="02020603050405020304" pitchFamily="18" charset="0"/>
                          <a:cs typeface="Times New Roman" panose="02020603050405020304" pitchFamily="18" charset="0"/>
                        </a:rPr>
                        <a:t>Sayma</a:t>
                      </a:r>
                      <a:endParaRPr lang="en-US" sz="2100" b="1" dirty="0" smtClean="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100" b="1" dirty="0" smtClean="0">
                          <a:solidFill>
                            <a:schemeClr val="bg1"/>
                          </a:solidFill>
                          <a:latin typeface="Times New Roman" panose="02020603050405020304" pitchFamily="18" charset="0"/>
                          <a:cs typeface="Times New Roman" panose="02020603050405020304" pitchFamily="18" charset="0"/>
                        </a:rPr>
                        <a:t>2026000000205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4701715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95000">
              <a:srgbClr val="3038A8"/>
            </a:gs>
            <a:gs pos="100000">
              <a:srgbClr val="3038A8"/>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AB7CFE2-4B46-5F6A-B5F6-373EE1368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3090" y="1104323"/>
            <a:ext cx="7658910" cy="4821769"/>
          </a:xfrm>
          <a:prstGeom prst="rect">
            <a:avLst/>
          </a:prstGeom>
        </p:spPr>
      </p:pic>
      <p:sp>
        <p:nvSpPr>
          <p:cNvPr id="5" name="Title 4">
            <a:extLst>
              <a:ext uri="{FF2B5EF4-FFF2-40B4-BE49-F238E27FC236}">
                <a16:creationId xmlns:a16="http://schemas.microsoft.com/office/drawing/2014/main" xmlns="" id="{87A49CE6-47C1-99BD-152E-7283B2A9BD38}"/>
              </a:ext>
            </a:extLst>
          </p:cNvPr>
          <p:cNvSpPr>
            <a:spLocks noGrp="1"/>
          </p:cNvSpPr>
          <p:nvPr>
            <p:ph type="title"/>
          </p:nvPr>
        </p:nvSpPr>
        <p:spPr>
          <a:xfrm>
            <a:off x="838200" y="190021"/>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INTRODUCTION</a:t>
            </a:r>
            <a:endParaRPr lang="en-US" dirty="0">
              <a:solidFill>
                <a:schemeClr val="bg1"/>
              </a:solidFill>
            </a:endParaRPr>
          </a:p>
        </p:txBody>
      </p:sp>
      <p:sp>
        <p:nvSpPr>
          <p:cNvPr id="6" name="TextBox 5">
            <a:extLst>
              <a:ext uri="{FF2B5EF4-FFF2-40B4-BE49-F238E27FC236}">
                <a16:creationId xmlns:a16="http://schemas.microsoft.com/office/drawing/2014/main" xmlns="" id="{AC4234CE-071E-351D-F3B7-D432243365E2}"/>
              </a:ext>
            </a:extLst>
          </p:cNvPr>
          <p:cNvSpPr txBox="1"/>
          <p:nvPr/>
        </p:nvSpPr>
        <p:spPr>
          <a:xfrm>
            <a:off x="379379" y="1549734"/>
            <a:ext cx="8608978" cy="4602029"/>
          </a:xfrm>
          <a:prstGeom prst="rect">
            <a:avLst/>
          </a:prstGeom>
          <a:noFill/>
        </p:spPr>
        <p:txBody>
          <a:bodyPr wrap="square" rtlCol="0">
            <a:spAutoFit/>
          </a:bodyPr>
          <a:lstStyle/>
          <a:p>
            <a:pPr>
              <a:lnSpc>
                <a:spcPct val="150000"/>
              </a:lnSpc>
            </a:pPr>
            <a:r>
              <a:rPr lang="en-US" sz="2200" dirty="0">
                <a:solidFill>
                  <a:schemeClr val="bg1"/>
                </a:solidFill>
                <a:latin typeface="Times New Roman" panose="02020603050405020304" pitchFamily="18" charset="0"/>
                <a:cs typeface="Times New Roman" panose="02020603050405020304" pitchFamily="18" charset="0"/>
              </a:rPr>
              <a:t>Cyber refers to anything related to computers, information technology, networks, and the internet. It represents the digital environment where people communicate, share information, and perform various online activities through interconnected systems and </a:t>
            </a:r>
            <a:r>
              <a:rPr lang="en-US" sz="2200" dirty="0" err="1">
                <a:solidFill>
                  <a:schemeClr val="bg1"/>
                </a:solidFill>
                <a:latin typeface="Times New Roman" panose="02020603050405020304" pitchFamily="18" charset="0"/>
                <a:cs typeface="Times New Roman" panose="02020603050405020304" pitchFamily="18" charset="0"/>
              </a:rPr>
              <a:t>networks.Cyber</a:t>
            </a:r>
            <a:r>
              <a:rPr lang="en-US" sz="2200" dirty="0">
                <a:solidFill>
                  <a:schemeClr val="bg1"/>
                </a:solidFill>
                <a:latin typeface="Times New Roman" panose="02020603050405020304" pitchFamily="18" charset="0"/>
                <a:cs typeface="Times New Roman" panose="02020603050405020304" pitchFamily="18" charset="0"/>
              </a:rPr>
              <a:t> Security is the practice of protecting computers, networks, software, and data from unauthorized access, attacks, damage, or theft. It helps ensure the confidentiality, integrity, and availability of information while safeguarding individuals and organizations from cyber </a:t>
            </a:r>
            <a:r>
              <a:rPr lang="en-US" sz="2200" dirty="0" smtClean="0">
                <a:solidFill>
                  <a:schemeClr val="bg1"/>
                </a:solidFill>
                <a:latin typeface="Times New Roman" panose="02020603050405020304" pitchFamily="18" charset="0"/>
                <a:cs typeface="Times New Roman" panose="02020603050405020304" pitchFamily="18" charset="0"/>
              </a:rPr>
              <a:t>threats.</a:t>
            </a:r>
          </a:p>
          <a:p>
            <a:pPr>
              <a:lnSpc>
                <a:spcPct val="150000"/>
              </a:lnSpc>
            </a:pPr>
            <a:r>
              <a:rPr lang="en-US" sz="2200" dirty="0" smtClean="0">
                <a:solidFill>
                  <a:schemeClr val="bg1"/>
                </a:solidFill>
                <a:latin typeface="Times New Roman" panose="02020603050405020304" pitchFamily="18" charset="0"/>
                <a:cs typeface="Times New Roman" panose="02020603050405020304" pitchFamily="18" charset="0"/>
              </a:rPr>
              <a:t>(</a:t>
            </a:r>
            <a:r>
              <a:rPr lang="en-US" sz="2200" dirty="0">
                <a:solidFill>
                  <a:schemeClr val="bg1"/>
                </a:solidFill>
                <a:latin typeface="Times New Roman" panose="02020603050405020304" pitchFamily="18" charset="0"/>
                <a:cs typeface="Times New Roman" panose="02020603050405020304" pitchFamily="18" charset="0"/>
              </a:rPr>
              <a:t>Oxford Reference, 2023).</a:t>
            </a:r>
          </a:p>
        </p:txBody>
      </p:sp>
    </p:spTree>
    <p:extLst>
      <p:ext uri="{BB962C8B-B14F-4D97-AF65-F5344CB8AC3E}">
        <p14:creationId xmlns:p14="http://schemas.microsoft.com/office/powerpoint/2010/main" val="33582145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F1FADD"/>
            </a:gs>
            <a:gs pos="100000">
              <a:srgbClr val="01CB14"/>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586F24C-42E4-BE5A-29E7-57C71BE7976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l="9448"/>
          <a:stretch>
            <a:fillRect/>
          </a:stretch>
        </p:blipFill>
        <p:spPr>
          <a:xfrm>
            <a:off x="6096000" y="1205259"/>
            <a:ext cx="5917095" cy="5297555"/>
          </a:xfrm>
          <a:prstGeom prst="rect">
            <a:avLst/>
          </a:prstGeom>
          <a:solidFill>
            <a:schemeClr val="accent1"/>
          </a:solidFill>
          <a:effectLst/>
        </p:spPr>
      </p:pic>
      <p:sp>
        <p:nvSpPr>
          <p:cNvPr id="6" name="Title 5">
            <a:extLst>
              <a:ext uri="{FF2B5EF4-FFF2-40B4-BE49-F238E27FC236}">
                <a16:creationId xmlns:a16="http://schemas.microsoft.com/office/drawing/2014/main" xmlns="" id="{34B24ADB-C9D4-FA66-466F-94A4D544D6C9}"/>
              </a:ext>
            </a:extLst>
          </p:cNvPr>
          <p:cNvSpPr>
            <a:spLocks noGrp="1" noRot="1" noMove="1" noResize="1" noEditPoints="1" noAdjustHandles="1" noChangeArrowheads="1" noChangeShapeType="1"/>
          </p:cNvSpPr>
          <p:nvPr>
            <p:ph type="title"/>
          </p:nvPr>
        </p:nvSpPr>
        <p:spPr>
          <a:xfrm>
            <a:off x="838200" y="235919"/>
            <a:ext cx="10515600" cy="1056170"/>
          </a:xfrm>
        </p:spPr>
        <p:txBody>
          <a:bodyPr/>
          <a:lstStyle/>
          <a:p>
            <a:pPr algn="ctr"/>
            <a:r>
              <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Cyber</a:t>
            </a:r>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Crime</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4588683C-6370-E46E-D73B-5945D6F326C2}"/>
              </a:ext>
            </a:extLst>
          </p:cNvPr>
          <p:cNvSpPr txBox="1">
            <a:spLocks noGrp="1" noRot="1" noMove="1" noResize="1" noEditPoints="1" noAdjustHandles="1" noChangeArrowheads="1" noChangeShapeType="1"/>
          </p:cNvSpPr>
          <p:nvPr/>
        </p:nvSpPr>
        <p:spPr>
          <a:xfrm>
            <a:off x="611256" y="1123123"/>
            <a:ext cx="4949688" cy="35863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150" dirty="0">
                <a:latin typeface="Times New Roman" panose="02020603050405020304" pitchFamily="18" charset="0"/>
                <a:cs typeface="Times New Roman" panose="02020603050405020304" pitchFamily="18" charset="0"/>
              </a:rPr>
              <a:t>Cyber crime refers to any illegal activity that is carried out using computers, networks, or the internet, where the computer may be the target, tool, or both. It includes activities such as hacking, identity theft, online fraud, and data breaches.</a:t>
            </a:r>
          </a:p>
        </p:txBody>
      </p:sp>
      <p:sp>
        <p:nvSpPr>
          <p:cNvPr id="9" name="TextBox 8">
            <a:extLst>
              <a:ext uri="{FF2B5EF4-FFF2-40B4-BE49-F238E27FC236}">
                <a16:creationId xmlns:a16="http://schemas.microsoft.com/office/drawing/2014/main" xmlns="" id="{4C7AD890-AD90-C786-1383-E96733A18E60}"/>
              </a:ext>
            </a:extLst>
          </p:cNvPr>
          <p:cNvSpPr txBox="1">
            <a:spLocks noGrp="1" noRot="1" noMove="1" noResize="1" noEditPoints="1" noAdjustHandles="1" noChangeArrowheads="1" noChangeShapeType="1"/>
          </p:cNvSpPr>
          <p:nvPr/>
        </p:nvSpPr>
        <p:spPr>
          <a:xfrm>
            <a:off x="655982" y="4709489"/>
            <a:ext cx="4860235" cy="155504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150" dirty="0">
                <a:latin typeface="Times New Roman" panose="02020603050405020304" pitchFamily="18" charset="0"/>
                <a:cs typeface="Times New Roman" panose="02020603050405020304" pitchFamily="18" charset="0"/>
              </a:rPr>
              <a:t>Cyber crime is defined as criminal activities involving computers and digital networks (UNODC, 2021).</a:t>
            </a:r>
          </a:p>
        </p:txBody>
      </p:sp>
    </p:spTree>
    <p:extLst>
      <p:ext uri="{BB962C8B-B14F-4D97-AF65-F5344CB8AC3E}">
        <p14:creationId xmlns:p14="http://schemas.microsoft.com/office/powerpoint/2010/main" val="32027164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rgbClr val="000C25"/>
            </a:gs>
            <a:gs pos="0">
              <a:srgbClr val="000C1F"/>
            </a:gs>
          </a:gsLst>
          <a:lin ang="5400000" scaled="1"/>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xmlns="" id="{7A11E8CE-3E0D-86A7-9D14-45E28A2DCE56}"/>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838200" y="0"/>
            <a:ext cx="10622604" cy="6858000"/>
          </a:xfrm>
          <a:prstGeom prst="rect">
            <a:avLst/>
          </a:prstGeom>
        </p:spPr>
      </p:pic>
      <p:sp>
        <p:nvSpPr>
          <p:cNvPr id="5" name="Title 4">
            <a:extLst>
              <a:ext uri="{FF2B5EF4-FFF2-40B4-BE49-F238E27FC236}">
                <a16:creationId xmlns:a16="http://schemas.microsoft.com/office/drawing/2014/main" xmlns="" id="{C66D5466-ADF5-A800-C0C6-06D123A75302}"/>
              </a:ext>
            </a:extLst>
          </p:cNvPr>
          <p:cNvSpPr>
            <a:spLocks noGrp="1" noRot="1" noMove="1" noResize="1" noEditPoints="1" noAdjustHandles="1" noChangeArrowheads="1" noChangeShapeType="1"/>
          </p:cNvSpPr>
          <p:nvPr>
            <p:ph type="title"/>
          </p:nvPr>
        </p:nvSpPr>
        <p:spPr>
          <a:xfrm>
            <a:off x="838200" y="59635"/>
            <a:ext cx="10515600" cy="108598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Major Cyber Security Problem</a:t>
            </a:r>
          </a:p>
        </p:txBody>
      </p:sp>
      <p:sp>
        <p:nvSpPr>
          <p:cNvPr id="17" name="TextBox 16">
            <a:extLst>
              <a:ext uri="{FF2B5EF4-FFF2-40B4-BE49-F238E27FC236}">
                <a16:creationId xmlns:a16="http://schemas.microsoft.com/office/drawing/2014/main" xmlns="" id="{DCD2F5B8-06F5-8396-9E8D-4FF9CE9DBFF0}"/>
              </a:ext>
            </a:extLst>
          </p:cNvPr>
          <p:cNvSpPr txBox="1">
            <a:spLocks noGrp="1" noRot="1" noMove="1" noResize="1" noEditPoints="1" noAdjustHandles="1" noChangeArrowheads="1" noChangeShapeType="1"/>
          </p:cNvSpPr>
          <p:nvPr/>
        </p:nvSpPr>
        <p:spPr>
          <a:xfrm>
            <a:off x="1558052" y="2169262"/>
            <a:ext cx="2548645" cy="784830"/>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PHISHING ATTACKS</a:t>
            </a:r>
          </a:p>
          <a:p>
            <a:pPr algn="ctr"/>
            <a:r>
              <a:rPr lang="en-US" sz="1500" dirty="0">
                <a:solidFill>
                  <a:schemeClr val="bg1"/>
                </a:solidFill>
                <a:latin typeface="Times New Roman" panose="02020603050405020304" pitchFamily="18" charset="0"/>
                <a:cs typeface="Times New Roman" panose="02020603050405020304" pitchFamily="18" charset="0"/>
              </a:rPr>
              <a:t>Tricking users to steal sensitive information</a:t>
            </a:r>
          </a:p>
        </p:txBody>
      </p:sp>
      <p:sp>
        <p:nvSpPr>
          <p:cNvPr id="18" name="TextBox 17">
            <a:extLst>
              <a:ext uri="{FF2B5EF4-FFF2-40B4-BE49-F238E27FC236}">
                <a16:creationId xmlns:a16="http://schemas.microsoft.com/office/drawing/2014/main" xmlns="" id="{85D7DC76-8D8D-FD1B-E4D7-F41DBC47DA97}"/>
              </a:ext>
            </a:extLst>
          </p:cNvPr>
          <p:cNvSpPr txBox="1">
            <a:spLocks noGrp="1" noRot="1" noMove="1" noResize="1" noEditPoints="1" noAdjustHandles="1" noChangeArrowheads="1" noChangeShapeType="1"/>
          </p:cNvSpPr>
          <p:nvPr/>
        </p:nvSpPr>
        <p:spPr>
          <a:xfrm>
            <a:off x="8093413" y="2188722"/>
            <a:ext cx="2540536" cy="784830"/>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MALWARE</a:t>
            </a:r>
          </a:p>
          <a:p>
            <a:pPr algn="ctr"/>
            <a:r>
              <a:rPr lang="en-US" sz="1500" dirty="0">
                <a:solidFill>
                  <a:schemeClr val="bg1"/>
                </a:solidFill>
                <a:latin typeface="Times New Roman" panose="02020603050405020304" pitchFamily="18" charset="0"/>
                <a:cs typeface="Times New Roman" panose="02020603050405020304" pitchFamily="18" charset="0"/>
              </a:rPr>
              <a:t>Malicious software designed to damage or steal data.</a:t>
            </a:r>
          </a:p>
        </p:txBody>
      </p:sp>
      <p:sp>
        <p:nvSpPr>
          <p:cNvPr id="19" name="TextBox 18">
            <a:extLst>
              <a:ext uri="{FF2B5EF4-FFF2-40B4-BE49-F238E27FC236}">
                <a16:creationId xmlns:a16="http://schemas.microsoft.com/office/drawing/2014/main" xmlns="" id="{4C5D6300-8F0C-C7F2-EA59-3670E028712A}"/>
              </a:ext>
            </a:extLst>
          </p:cNvPr>
          <p:cNvSpPr txBox="1">
            <a:spLocks noGrp="1" noRot="1" noMove="1" noResize="1" noEditPoints="1" noAdjustHandles="1" noChangeArrowheads="1" noChangeShapeType="1"/>
          </p:cNvSpPr>
          <p:nvPr/>
        </p:nvSpPr>
        <p:spPr>
          <a:xfrm>
            <a:off x="731196" y="3937228"/>
            <a:ext cx="2683216" cy="830997"/>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RANSOMWARE</a:t>
            </a:r>
          </a:p>
          <a:p>
            <a:pPr algn="ctr"/>
            <a:r>
              <a:rPr lang="en-US" sz="1500" dirty="0">
                <a:solidFill>
                  <a:schemeClr val="bg1"/>
                </a:solidFill>
                <a:latin typeface="Times New Roman" panose="02020603050405020304" pitchFamily="18" charset="0"/>
                <a:cs typeface="Times New Roman" panose="02020603050405020304" pitchFamily="18" charset="0"/>
              </a:rPr>
              <a:t>Malware that locks data and demands payment</a:t>
            </a:r>
            <a:r>
              <a:rPr lang="en-US" dirty="0">
                <a:solidFill>
                  <a:schemeClr val="bg1"/>
                </a:solidFill>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xmlns="" id="{EDCDEFEF-473F-CF31-BC3F-F52AB61B62B1}"/>
              </a:ext>
            </a:extLst>
          </p:cNvPr>
          <p:cNvSpPr txBox="1">
            <a:spLocks noGrp="1" noRot="1" noMove="1" noResize="1" noEditPoints="1" noAdjustHandles="1" noChangeArrowheads="1" noChangeShapeType="1"/>
          </p:cNvSpPr>
          <p:nvPr/>
        </p:nvSpPr>
        <p:spPr>
          <a:xfrm>
            <a:off x="8336606" y="3908044"/>
            <a:ext cx="2869659" cy="784830"/>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DATA BREACHES</a:t>
            </a:r>
          </a:p>
          <a:p>
            <a:pPr algn="ctr"/>
            <a:r>
              <a:rPr lang="en-US" sz="1500" dirty="0">
                <a:solidFill>
                  <a:schemeClr val="bg1"/>
                </a:solidFill>
                <a:latin typeface="Times New Roman" panose="02020603050405020304" pitchFamily="18" charset="0"/>
                <a:cs typeface="Times New Roman" panose="02020603050405020304" pitchFamily="18" charset="0"/>
              </a:rPr>
              <a:t>Unauthorized access to sensitive data.</a:t>
            </a:r>
          </a:p>
        </p:txBody>
      </p:sp>
      <p:sp>
        <p:nvSpPr>
          <p:cNvPr id="21" name="TextBox 20">
            <a:extLst>
              <a:ext uri="{FF2B5EF4-FFF2-40B4-BE49-F238E27FC236}">
                <a16:creationId xmlns:a16="http://schemas.microsoft.com/office/drawing/2014/main" xmlns="" id="{C1E77EB3-6425-DB81-8F25-1B7653B087B6}"/>
              </a:ext>
            </a:extLst>
          </p:cNvPr>
          <p:cNvSpPr txBox="1">
            <a:spLocks noGrp="1" noRot="1" noMove="1" noResize="1" noEditPoints="1" noAdjustHandles="1" noChangeArrowheads="1" noChangeShapeType="1"/>
          </p:cNvSpPr>
          <p:nvPr/>
        </p:nvSpPr>
        <p:spPr>
          <a:xfrm>
            <a:off x="1694238" y="5603132"/>
            <a:ext cx="2412459" cy="784830"/>
          </a:xfrm>
          <a:prstGeom prst="rect">
            <a:avLst/>
          </a:prstGeom>
          <a:noFill/>
        </p:spPr>
        <p:txBody>
          <a:bodyPr wrap="square" rtlCol="0">
            <a:spAutoFit/>
          </a:bodyPr>
          <a:lstStyle/>
          <a:p>
            <a:pPr algn="ctr"/>
            <a:r>
              <a:rPr lang="en-US" sz="1500" b="1" dirty="0" smtClean="0">
                <a:solidFill>
                  <a:schemeClr val="bg1"/>
                </a:solidFill>
                <a:latin typeface="Times New Roman" panose="02020603050405020304" pitchFamily="18" charset="0"/>
                <a:cs typeface="Times New Roman" panose="02020603050405020304" pitchFamily="18" charset="0"/>
              </a:rPr>
              <a:t>INSIDER THREATS</a:t>
            </a:r>
          </a:p>
          <a:p>
            <a:pPr algn="ctr"/>
            <a:r>
              <a:rPr lang="en-US" sz="1500" dirty="0" smtClean="0">
                <a:solidFill>
                  <a:schemeClr val="bg1"/>
                </a:solidFill>
                <a:latin typeface="Times New Roman" panose="02020603050405020304" pitchFamily="18" charset="0"/>
                <a:cs typeface="Times New Roman" panose="02020603050405020304" pitchFamily="18" charset="0"/>
              </a:rPr>
              <a:t>Malicious or negligent actions by trusted insiders.</a:t>
            </a:r>
            <a:endParaRPr lang="en-US" sz="1500"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EA2A39E7-7700-73DD-7734-F69186EEE253}"/>
              </a:ext>
            </a:extLst>
          </p:cNvPr>
          <p:cNvSpPr txBox="1">
            <a:spLocks noGrp="1" noRot="1" noMove="1" noResize="1" noEditPoints="1" noAdjustHandles="1" noChangeArrowheads="1" noChangeShapeType="1"/>
          </p:cNvSpPr>
          <p:nvPr/>
        </p:nvSpPr>
        <p:spPr>
          <a:xfrm>
            <a:off x="5680952" y="5551383"/>
            <a:ext cx="2461100" cy="784830"/>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WEAK PASSWORDS</a:t>
            </a:r>
          </a:p>
          <a:p>
            <a:pPr algn="ctr"/>
            <a:r>
              <a:rPr lang="en-US" sz="1500" dirty="0">
                <a:solidFill>
                  <a:schemeClr val="bg1"/>
                </a:solidFill>
                <a:latin typeface="Times New Roman" panose="02020603050405020304" pitchFamily="18" charset="0"/>
                <a:cs typeface="Times New Roman" panose="02020603050405020304" pitchFamily="18" charset="0"/>
              </a:rPr>
              <a:t>Easy-to-guess passwords compromise accounts.</a:t>
            </a:r>
          </a:p>
        </p:txBody>
      </p:sp>
      <p:sp>
        <p:nvSpPr>
          <p:cNvPr id="23" name="TextBox 22">
            <a:extLst>
              <a:ext uri="{FF2B5EF4-FFF2-40B4-BE49-F238E27FC236}">
                <a16:creationId xmlns:a16="http://schemas.microsoft.com/office/drawing/2014/main" xmlns="" id="{9E9DC60B-8273-33E7-B27B-87CDD9A5A49D}"/>
              </a:ext>
            </a:extLst>
          </p:cNvPr>
          <p:cNvSpPr txBox="1">
            <a:spLocks noGrp="1" noRot="1" noMove="1" noResize="1" noEditPoints="1" noAdjustHandles="1" noChangeArrowheads="1" noChangeShapeType="1"/>
          </p:cNvSpPr>
          <p:nvPr/>
        </p:nvSpPr>
        <p:spPr>
          <a:xfrm>
            <a:off x="8303364" y="5598182"/>
            <a:ext cx="2412459" cy="784830"/>
          </a:xfrm>
          <a:prstGeom prst="rect">
            <a:avLst/>
          </a:prstGeom>
          <a:noFill/>
        </p:spPr>
        <p:txBody>
          <a:bodyPr wrap="square" rtlCol="0">
            <a:spAutoFit/>
          </a:bodyPr>
          <a:lstStyle/>
          <a:p>
            <a:pPr algn="ctr"/>
            <a:r>
              <a:rPr lang="en-US" sz="1500" b="1" dirty="0">
                <a:solidFill>
                  <a:schemeClr val="bg1"/>
                </a:solidFill>
                <a:latin typeface="Times New Roman" panose="02020603050405020304" pitchFamily="18" charset="0"/>
                <a:cs typeface="Times New Roman" panose="02020603050405020304" pitchFamily="18" charset="0"/>
              </a:rPr>
              <a:t>UNSECURED SYSTEMS</a:t>
            </a:r>
          </a:p>
          <a:p>
            <a:pPr algn="ctr"/>
            <a:r>
              <a:rPr lang="en-US" sz="1500" dirty="0">
                <a:solidFill>
                  <a:schemeClr val="bg1"/>
                </a:solidFill>
                <a:latin typeface="Times New Roman" panose="02020603050405020304" pitchFamily="18" charset="0"/>
                <a:cs typeface="Times New Roman" panose="02020603050405020304" pitchFamily="18" charset="0"/>
              </a:rPr>
              <a:t>Vulnerabilities in systems and applications.</a:t>
            </a:r>
          </a:p>
        </p:txBody>
      </p:sp>
    </p:spTree>
    <p:extLst>
      <p:ext uri="{BB962C8B-B14F-4D97-AF65-F5344CB8AC3E}">
        <p14:creationId xmlns:p14="http://schemas.microsoft.com/office/powerpoint/2010/main" val="711307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91A29A6C-730E-5D7C-5CB7-DC3128CA82F7}"/>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6">
            <a:extLst>
              <a:ext uri="{FF2B5EF4-FFF2-40B4-BE49-F238E27FC236}">
                <a16:creationId xmlns:a16="http://schemas.microsoft.com/office/drawing/2014/main" xmlns="" id="{4B6F3F60-2177-774B-C5A5-D7126EAC8EFF}"/>
              </a:ext>
            </a:extLst>
          </p:cNvPr>
          <p:cNvSpPr>
            <a:spLocks noGrp="1" noRot="1" noMove="1" noResize="1" noEditPoints="1" noAdjustHandles="1" noChangeArrowheads="1" noChangeShapeType="1"/>
          </p:cNvSpPr>
          <p:nvPr>
            <p:ph type="title"/>
          </p:nvPr>
        </p:nvSpPr>
        <p:spPr>
          <a:xfrm>
            <a:off x="838200" y="44112"/>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Advantages of </a:t>
            </a:r>
            <a:r>
              <a:rPr lang="en-US" b="1" dirty="0">
                <a:solidFill>
                  <a:srgbClr val="86D6FA"/>
                </a:solidFill>
                <a:latin typeface="Times New Roman" panose="02020603050405020304" pitchFamily="18" charset="0"/>
                <a:cs typeface="Times New Roman" panose="02020603050405020304" pitchFamily="18" charset="0"/>
              </a:rPr>
              <a:t>Cyber Security</a:t>
            </a:r>
          </a:p>
        </p:txBody>
      </p:sp>
      <p:pic>
        <p:nvPicPr>
          <p:cNvPr id="9" name="Graphic 8">
            <a:extLst>
              <a:ext uri="{FF2B5EF4-FFF2-40B4-BE49-F238E27FC236}">
                <a16:creationId xmlns:a16="http://schemas.microsoft.com/office/drawing/2014/main" xmlns="" id="{E16E4EF2-4E13-216B-0AEA-32D7560C3C47}"/>
              </a:ext>
            </a:extLst>
          </p:cNvPr>
          <p:cNvPicPr>
            <a:picLocks noGrp="1" noRot="1" noChangeAspect="1" noMove="1" noResize="1" noEditPoints="1" noAdjustHandles="1" noChangeArrowheads="1" noChangeShapeType="1" noCrop="1"/>
          </p:cNvPicPr>
          <p:nvPr/>
        </p:nvPicPr>
        <p:blipFill>
          <a:blip r:embed="rId3" cstate="print">
            <a:lum bright="70000" contrast="-70000"/>
            <a:extLst>
              <a:ext uri="{BEBA8EAE-BF5A-486C-A8C5-ECC9F3942E4B}">
                <a14:imgProps xmlns:a14="http://schemas.microsoft.com/office/drawing/2010/main">
                  <a14:imgLayer r:embed="rId4">
                    <a14:imgEffect>
                      <a14:artisticPhotocopy/>
                    </a14:imgEffect>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381999" y="2448856"/>
            <a:ext cx="1825487" cy="1825487"/>
          </a:xfrm>
          <a:prstGeom prst="rect">
            <a:avLst/>
          </a:prstGeom>
        </p:spPr>
      </p:pic>
      <p:pic>
        <p:nvPicPr>
          <p:cNvPr id="11" name="Graphic 10">
            <a:extLst>
              <a:ext uri="{FF2B5EF4-FFF2-40B4-BE49-F238E27FC236}">
                <a16:creationId xmlns:a16="http://schemas.microsoft.com/office/drawing/2014/main" xmlns="" id="{A3842663-9026-E5DF-16EF-D1D30E0E60EE}"/>
              </a:ext>
            </a:extLst>
          </p:cNvPr>
          <p:cNvPicPr>
            <a:picLocks noGrp="1" noRot="1" noChangeAspect="1" noMove="1" noResize="1" noEditPoints="1" noAdjustHandles="1" noChangeArrowheads="1" noChangeShapeType="1" noCrop="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622680" y="2363223"/>
            <a:ext cx="481390" cy="481390"/>
          </a:xfrm>
          <a:prstGeom prst="rect">
            <a:avLst/>
          </a:prstGeom>
          <a:noFill/>
        </p:spPr>
      </p:pic>
      <p:pic>
        <p:nvPicPr>
          <p:cNvPr id="15" name="Graphic 14">
            <a:extLst>
              <a:ext uri="{FF2B5EF4-FFF2-40B4-BE49-F238E27FC236}">
                <a16:creationId xmlns:a16="http://schemas.microsoft.com/office/drawing/2014/main" xmlns="" id="{7AEC4885-17CE-8D11-0C19-F965B98BE85D}"/>
              </a:ext>
            </a:extLst>
          </p:cNvPr>
          <p:cNvPicPr>
            <a:picLocks noGrp="1" noRot="1" noChangeAspect="1" noMove="1" noResize="1" noEditPoints="1" noAdjustHandles="1" noChangeArrowheads="1" noChangeShapeType="1" noCrop="1"/>
          </p:cNvPicPr>
          <p:nvPr/>
        </p:nvPicPr>
        <p:blipFill>
          <a:blip r:embed="rId7" cstate="print">
            <a:clrChange>
              <a:clrFrom>
                <a:srgbClr val="DEF9FD"/>
              </a:clrFrom>
              <a:clrTo>
                <a:srgbClr val="DEF9FD">
                  <a:alpha val="0"/>
                </a:srgbClr>
              </a:clrTo>
            </a:clrChange>
            <a:extLst>
              <a:ext uri="{BEBA8EAE-BF5A-486C-A8C5-ECC9F3942E4B}">
                <a14:imgProps xmlns:a14="http://schemas.microsoft.com/office/drawing/2010/main">
                  <a14:imgLayer r:embed="rId4">
                    <a14:imgEffect>
                      <a14:artisticPhotocopy/>
                    </a14:imgEffect>
                    <a14:imgEffect>
                      <a14:sharpenSoften amount="-50000"/>
                    </a14:imgEffect>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22680" y="1355419"/>
            <a:ext cx="510721" cy="510721"/>
          </a:xfrm>
          <a:prstGeom prst="rect">
            <a:avLst/>
          </a:prstGeom>
          <a:noFill/>
          <a:ln>
            <a:noFill/>
          </a:ln>
        </p:spPr>
      </p:pic>
      <p:pic>
        <p:nvPicPr>
          <p:cNvPr id="17" name="Graphic 16">
            <a:extLst>
              <a:ext uri="{FF2B5EF4-FFF2-40B4-BE49-F238E27FC236}">
                <a16:creationId xmlns:a16="http://schemas.microsoft.com/office/drawing/2014/main" xmlns="" id="{3AEC53C4-CE65-6DAF-85C1-FCDA8565C8E1}"/>
              </a:ext>
            </a:extLst>
          </p:cNvPr>
          <p:cNvPicPr>
            <a:picLocks noGrp="1" noRot="1" noChangeAspect="1" noMove="1" noResize="1" noEditPoints="1" noAdjustHandles="1" noChangeArrowheads="1" noChangeShapeType="1" noCrop="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582983" y="3262897"/>
            <a:ext cx="535800" cy="535800"/>
          </a:xfrm>
          <a:prstGeom prst="rect">
            <a:avLst/>
          </a:prstGeom>
        </p:spPr>
      </p:pic>
      <p:pic>
        <p:nvPicPr>
          <p:cNvPr id="19" name="Graphic 18">
            <a:extLst>
              <a:ext uri="{FF2B5EF4-FFF2-40B4-BE49-F238E27FC236}">
                <a16:creationId xmlns:a16="http://schemas.microsoft.com/office/drawing/2014/main" xmlns="" id="{E1F2BB67-EBAE-549C-EF9E-B8FAFB8EC4D7}"/>
              </a:ext>
            </a:extLst>
          </p:cNvPr>
          <p:cNvPicPr>
            <a:picLocks noGrp="1" noRot="1" noChangeAspect="1" noMove="1" noResize="1" noEditPoints="1" noAdjustHandles="1" noChangeArrowheads="1" noChangeShapeType="1" noCrop="1"/>
          </p:cNvPicPr>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555408" y="4212958"/>
            <a:ext cx="577021" cy="577021"/>
          </a:xfrm>
          <a:prstGeom prst="rect">
            <a:avLst/>
          </a:prstGeom>
        </p:spPr>
      </p:pic>
      <p:pic>
        <p:nvPicPr>
          <p:cNvPr id="21" name="Graphic 20">
            <a:extLst>
              <a:ext uri="{FF2B5EF4-FFF2-40B4-BE49-F238E27FC236}">
                <a16:creationId xmlns:a16="http://schemas.microsoft.com/office/drawing/2014/main" xmlns="" id="{2840CBDE-5ADC-703A-8758-7FC7997BCDDE}"/>
              </a:ext>
            </a:extLst>
          </p:cNvPr>
          <p:cNvPicPr>
            <a:picLocks noGrp="1" noRot="1" noChangeAspect="1" noMove="1" noResize="1" noEditPoints="1" noAdjustHandles="1" noChangeArrowheads="1" noChangeShapeType="1" noCrop="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593581" y="5202650"/>
            <a:ext cx="488655" cy="488655"/>
          </a:xfrm>
          <a:prstGeom prst="rect">
            <a:avLst/>
          </a:prstGeom>
        </p:spPr>
      </p:pic>
      <p:sp>
        <p:nvSpPr>
          <p:cNvPr id="22" name="Flowchart: Connector 21">
            <a:extLst>
              <a:ext uri="{FF2B5EF4-FFF2-40B4-BE49-F238E27FC236}">
                <a16:creationId xmlns:a16="http://schemas.microsoft.com/office/drawing/2014/main" xmlns="" id="{4E4D0473-C047-D820-6150-0767B7998C6F}"/>
              </a:ext>
            </a:extLst>
          </p:cNvPr>
          <p:cNvSpPr>
            <a:spLocks noGrp="1" noRot="1" noMove="1" noResize="1" noEditPoints="1" noAdjustHandles="1" noChangeArrowheads="1" noChangeShapeType="1"/>
          </p:cNvSpPr>
          <p:nvPr/>
        </p:nvSpPr>
        <p:spPr>
          <a:xfrm>
            <a:off x="542438" y="1298605"/>
            <a:ext cx="668787" cy="685840"/>
          </a:xfrm>
          <a:prstGeom prst="flowChartConnecto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xmlns="" id="{F7890B43-FDAF-0693-A6C7-F5FFFF376B81}"/>
              </a:ext>
            </a:extLst>
          </p:cNvPr>
          <p:cNvSpPr>
            <a:spLocks noGrp="1" noRot="1" noMove="1" noResize="1" noEditPoints="1" noAdjustHandles="1" noChangeArrowheads="1" noChangeShapeType="1"/>
          </p:cNvSpPr>
          <p:nvPr/>
        </p:nvSpPr>
        <p:spPr>
          <a:xfrm>
            <a:off x="529464" y="2248677"/>
            <a:ext cx="668787" cy="685840"/>
          </a:xfrm>
          <a:prstGeom prst="flowChartConnecto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xmlns="" id="{F5ADA82B-0758-1CC3-64A6-0A5452FB2DB7}"/>
              </a:ext>
            </a:extLst>
          </p:cNvPr>
          <p:cNvSpPr>
            <a:spLocks noGrp="1" noRot="1" noMove="1" noResize="1" noEditPoints="1" noAdjustHandles="1" noChangeArrowheads="1" noChangeShapeType="1"/>
          </p:cNvSpPr>
          <p:nvPr/>
        </p:nvSpPr>
        <p:spPr>
          <a:xfrm>
            <a:off x="516490" y="3198749"/>
            <a:ext cx="668787" cy="685840"/>
          </a:xfrm>
          <a:prstGeom prst="flowChartConnecto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xmlns="" id="{1DEB6D7E-BCFD-5C52-54D0-B6DA09C6E533}"/>
              </a:ext>
            </a:extLst>
          </p:cNvPr>
          <p:cNvSpPr>
            <a:spLocks noGrp="1" noRot="1" noMove="1" noResize="1" noEditPoints="1" noAdjustHandles="1" noChangeArrowheads="1" noChangeShapeType="1"/>
          </p:cNvSpPr>
          <p:nvPr/>
        </p:nvSpPr>
        <p:spPr>
          <a:xfrm>
            <a:off x="503516" y="4148821"/>
            <a:ext cx="668787" cy="685840"/>
          </a:xfrm>
          <a:prstGeom prst="flowChartConnecto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Connector 25">
            <a:extLst>
              <a:ext uri="{FF2B5EF4-FFF2-40B4-BE49-F238E27FC236}">
                <a16:creationId xmlns:a16="http://schemas.microsoft.com/office/drawing/2014/main" xmlns="" id="{2238E372-AC44-4CF1-737D-F9BE8F3C7C27}"/>
              </a:ext>
            </a:extLst>
          </p:cNvPr>
          <p:cNvSpPr>
            <a:spLocks noGrp="1" noRot="1" noMove="1" noResize="1" noEditPoints="1" noAdjustHandles="1" noChangeArrowheads="1" noChangeShapeType="1"/>
          </p:cNvSpPr>
          <p:nvPr/>
        </p:nvSpPr>
        <p:spPr>
          <a:xfrm>
            <a:off x="490542" y="5098893"/>
            <a:ext cx="668787" cy="685840"/>
          </a:xfrm>
          <a:prstGeom prst="flowChartConnecto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xmlns="" id="{CD9A9AA9-517F-41D4-80DF-E249FB118276}"/>
              </a:ext>
            </a:extLst>
          </p:cNvPr>
          <p:cNvCxnSpPr>
            <a:cxnSpLocks noGrp="1" noRot="1" noMove="1" noResize="1" noEditPoints="1" noAdjustHandles="1" noChangeArrowheads="1" noChangeShapeType="1"/>
          </p:cNvCxnSpPr>
          <p:nvPr/>
        </p:nvCxnSpPr>
        <p:spPr>
          <a:xfrm>
            <a:off x="1295692" y="4983970"/>
            <a:ext cx="5890299" cy="0"/>
          </a:xfrm>
          <a:prstGeom prst="line">
            <a:avLst/>
          </a:prstGeom>
          <a:ln w="12700">
            <a:gradFill flip="none" rotWithShape="1">
              <a:gsLst>
                <a:gs pos="0">
                  <a:srgbClr val="4FC3F7"/>
                </a:gs>
                <a:gs pos="51000">
                  <a:srgbClr val="0D47A1">
                    <a:lumMod val="92000"/>
                    <a:lumOff val="8000"/>
                  </a:srgbClr>
                </a:gs>
                <a:gs pos="100000">
                  <a:srgbClr val="4FC3F7">
                    <a:alpha val="0"/>
                  </a:srgbClr>
                </a:gs>
              </a:gsLst>
              <a:path path="circle">
                <a:fillToRect l="50000" t="50000" r="50000" b="50000"/>
              </a:path>
              <a:tileRect/>
            </a:gradFill>
          </a:ln>
        </p:spPr>
        <p:style>
          <a:lnRef idx="1">
            <a:schemeClr val="accent4"/>
          </a:lnRef>
          <a:fillRef idx="0">
            <a:schemeClr val="accent4"/>
          </a:fillRef>
          <a:effectRef idx="0">
            <a:schemeClr val="accent4"/>
          </a:effectRef>
          <a:fontRef idx="minor">
            <a:schemeClr val="tx1"/>
          </a:fontRef>
        </p:style>
      </p:cxnSp>
      <p:cxnSp>
        <p:nvCxnSpPr>
          <p:cNvPr id="36" name="Straight Connector 35">
            <a:extLst>
              <a:ext uri="{FF2B5EF4-FFF2-40B4-BE49-F238E27FC236}">
                <a16:creationId xmlns:a16="http://schemas.microsoft.com/office/drawing/2014/main" xmlns="" id="{BFADD693-B3A1-9ECD-8C6B-006D19F57E26}"/>
              </a:ext>
            </a:extLst>
          </p:cNvPr>
          <p:cNvCxnSpPr>
            <a:cxnSpLocks noGrp="1" noRot="1" noMove="1" noResize="1" noEditPoints="1" noAdjustHandles="1" noChangeArrowheads="1" noChangeShapeType="1"/>
          </p:cNvCxnSpPr>
          <p:nvPr/>
        </p:nvCxnSpPr>
        <p:spPr>
          <a:xfrm>
            <a:off x="1308946" y="4033126"/>
            <a:ext cx="5890299" cy="0"/>
          </a:xfrm>
          <a:prstGeom prst="line">
            <a:avLst/>
          </a:prstGeom>
          <a:ln w="12700">
            <a:gradFill flip="none" rotWithShape="1">
              <a:gsLst>
                <a:gs pos="0">
                  <a:srgbClr val="4FC3F7"/>
                </a:gs>
                <a:gs pos="51000">
                  <a:srgbClr val="0D47A1">
                    <a:lumMod val="92000"/>
                    <a:lumOff val="8000"/>
                  </a:srgbClr>
                </a:gs>
                <a:gs pos="100000">
                  <a:srgbClr val="4FC3F7">
                    <a:alpha val="0"/>
                  </a:srgbClr>
                </a:gs>
              </a:gsLst>
              <a:path path="circle">
                <a:fillToRect l="50000" t="50000" r="50000" b="50000"/>
              </a:path>
              <a:tileRect/>
            </a:gradFill>
          </a:ln>
        </p:spPr>
        <p:style>
          <a:lnRef idx="1">
            <a:schemeClr val="accent4"/>
          </a:lnRef>
          <a:fillRef idx="0">
            <a:schemeClr val="accent4"/>
          </a:fillRef>
          <a:effectRef idx="0">
            <a:schemeClr val="accent4"/>
          </a:effectRef>
          <a:fontRef idx="minor">
            <a:schemeClr val="tx1"/>
          </a:fontRef>
        </p:style>
      </p:cxnSp>
      <p:cxnSp>
        <p:nvCxnSpPr>
          <p:cNvPr id="37" name="Straight Connector 36">
            <a:extLst>
              <a:ext uri="{FF2B5EF4-FFF2-40B4-BE49-F238E27FC236}">
                <a16:creationId xmlns:a16="http://schemas.microsoft.com/office/drawing/2014/main" xmlns="" id="{00153AEF-980B-C613-9812-90759E6202B3}"/>
              </a:ext>
            </a:extLst>
          </p:cNvPr>
          <p:cNvCxnSpPr>
            <a:cxnSpLocks noGrp="1" noRot="1" noMove="1" noResize="1" noEditPoints="1" noAdjustHandles="1" noChangeArrowheads="1" noChangeShapeType="1"/>
          </p:cNvCxnSpPr>
          <p:nvPr/>
        </p:nvCxnSpPr>
        <p:spPr>
          <a:xfrm>
            <a:off x="1322200" y="3082282"/>
            <a:ext cx="5890299" cy="0"/>
          </a:xfrm>
          <a:prstGeom prst="line">
            <a:avLst/>
          </a:prstGeom>
          <a:ln w="12700">
            <a:gradFill flip="none" rotWithShape="1">
              <a:gsLst>
                <a:gs pos="0">
                  <a:srgbClr val="4FC3F7"/>
                </a:gs>
                <a:gs pos="51000">
                  <a:srgbClr val="0D47A1">
                    <a:lumMod val="92000"/>
                    <a:lumOff val="8000"/>
                  </a:srgbClr>
                </a:gs>
                <a:gs pos="100000">
                  <a:srgbClr val="4FC3F7">
                    <a:alpha val="0"/>
                  </a:srgbClr>
                </a:gs>
              </a:gsLst>
              <a:path path="circle">
                <a:fillToRect l="50000" t="50000" r="50000" b="50000"/>
              </a:path>
              <a:tileRect/>
            </a:gradFill>
          </a:ln>
        </p:spPr>
        <p:style>
          <a:lnRef idx="1">
            <a:schemeClr val="accent4"/>
          </a:lnRef>
          <a:fillRef idx="0">
            <a:schemeClr val="accent4"/>
          </a:fillRef>
          <a:effectRef idx="0">
            <a:schemeClr val="accent4"/>
          </a:effectRef>
          <a:fontRef idx="minor">
            <a:schemeClr val="tx1"/>
          </a:fontRef>
        </p:style>
      </p:cxnSp>
      <p:cxnSp>
        <p:nvCxnSpPr>
          <p:cNvPr id="38" name="Straight Connector 37">
            <a:extLst>
              <a:ext uri="{FF2B5EF4-FFF2-40B4-BE49-F238E27FC236}">
                <a16:creationId xmlns:a16="http://schemas.microsoft.com/office/drawing/2014/main" xmlns="" id="{9190DDB0-AC68-E18D-2249-3B2AE887C5E2}"/>
              </a:ext>
            </a:extLst>
          </p:cNvPr>
          <p:cNvCxnSpPr>
            <a:cxnSpLocks noGrp="1" noRot="1" noMove="1" noResize="1" noEditPoints="1" noAdjustHandles="1" noChangeArrowheads="1" noChangeShapeType="1"/>
          </p:cNvCxnSpPr>
          <p:nvPr/>
        </p:nvCxnSpPr>
        <p:spPr>
          <a:xfrm>
            <a:off x="1335454" y="2131438"/>
            <a:ext cx="5890299" cy="0"/>
          </a:xfrm>
          <a:prstGeom prst="line">
            <a:avLst/>
          </a:prstGeom>
          <a:ln w="12700">
            <a:gradFill flip="none" rotWithShape="1">
              <a:gsLst>
                <a:gs pos="0">
                  <a:srgbClr val="4FC3F7"/>
                </a:gs>
                <a:gs pos="51000">
                  <a:srgbClr val="0D47A1">
                    <a:lumMod val="92000"/>
                    <a:lumOff val="8000"/>
                  </a:srgbClr>
                </a:gs>
                <a:gs pos="100000">
                  <a:srgbClr val="4FC3F7">
                    <a:alpha val="0"/>
                  </a:srgbClr>
                </a:gs>
              </a:gsLst>
              <a:path path="circle">
                <a:fillToRect l="50000" t="50000" r="50000" b="50000"/>
              </a:path>
              <a:tileRect/>
            </a:gradFill>
          </a:ln>
        </p:spPr>
        <p:style>
          <a:lnRef idx="1">
            <a:schemeClr val="accent4"/>
          </a:lnRef>
          <a:fillRef idx="0">
            <a:schemeClr val="accent4"/>
          </a:fillRef>
          <a:effectRef idx="0">
            <a:schemeClr val="accent4"/>
          </a:effectRef>
          <a:fontRef idx="minor">
            <a:schemeClr val="tx1"/>
          </a:fontRef>
        </p:style>
      </p:cxnSp>
      <p:sp>
        <p:nvSpPr>
          <p:cNvPr id="39" name="TextBox 38">
            <a:extLst>
              <a:ext uri="{FF2B5EF4-FFF2-40B4-BE49-F238E27FC236}">
                <a16:creationId xmlns:a16="http://schemas.microsoft.com/office/drawing/2014/main" xmlns="" id="{4724F6F2-3B9E-F929-45B3-F15A9178B93A}"/>
              </a:ext>
            </a:extLst>
          </p:cNvPr>
          <p:cNvSpPr txBox="1">
            <a:spLocks noGrp="1" noRot="1" noMove="1" noResize="1" noEditPoints="1" noAdjustHandles="1" noChangeArrowheads="1" noChangeShapeType="1"/>
          </p:cNvSpPr>
          <p:nvPr/>
        </p:nvSpPr>
        <p:spPr>
          <a:xfrm>
            <a:off x="1427475" y="1379375"/>
            <a:ext cx="1636346" cy="338554"/>
          </a:xfrm>
          <a:prstGeom prst="rect">
            <a:avLst/>
          </a:prstGeom>
          <a:noFill/>
        </p:spPr>
        <p:txBody>
          <a:bodyPr wrap="square" rtlCol="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Data Protection</a:t>
            </a:r>
          </a:p>
        </p:txBody>
      </p:sp>
      <p:sp>
        <p:nvSpPr>
          <p:cNvPr id="40" name="TextBox 39">
            <a:extLst>
              <a:ext uri="{FF2B5EF4-FFF2-40B4-BE49-F238E27FC236}">
                <a16:creationId xmlns:a16="http://schemas.microsoft.com/office/drawing/2014/main" xmlns="" id="{33AB7113-F383-CE3E-035A-C78943754DCA}"/>
              </a:ext>
            </a:extLst>
          </p:cNvPr>
          <p:cNvSpPr txBox="1">
            <a:spLocks noGrp="1" noRot="1" noMove="1" noResize="1" noEditPoints="1" noAdjustHandles="1" noChangeArrowheads="1" noChangeShapeType="1"/>
          </p:cNvSpPr>
          <p:nvPr/>
        </p:nvSpPr>
        <p:spPr>
          <a:xfrm>
            <a:off x="1427474" y="1708318"/>
            <a:ext cx="4824239"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Protects personal and business information from hackers.</a:t>
            </a:r>
          </a:p>
        </p:txBody>
      </p:sp>
      <p:sp>
        <p:nvSpPr>
          <p:cNvPr id="41" name="TextBox 40">
            <a:extLst>
              <a:ext uri="{FF2B5EF4-FFF2-40B4-BE49-F238E27FC236}">
                <a16:creationId xmlns:a16="http://schemas.microsoft.com/office/drawing/2014/main" xmlns="" id="{DBB2F245-86AB-0828-1D3F-1CEAEBCCA696}"/>
              </a:ext>
            </a:extLst>
          </p:cNvPr>
          <p:cNvSpPr txBox="1">
            <a:spLocks noGrp="1" noRot="1" noMove="1" noResize="1" noEditPoints="1" noAdjustHandles="1" noChangeArrowheads="1" noChangeShapeType="1"/>
          </p:cNvSpPr>
          <p:nvPr/>
        </p:nvSpPr>
        <p:spPr>
          <a:xfrm>
            <a:off x="1391033" y="2386541"/>
            <a:ext cx="1910995" cy="338554"/>
          </a:xfrm>
          <a:prstGeom prst="rect">
            <a:avLst/>
          </a:prstGeom>
          <a:noFill/>
        </p:spPr>
        <p:txBody>
          <a:bodyPr wrap="square" rtlCol="0">
            <a:spAutoFit/>
          </a:bodyPr>
          <a:lstStyle/>
          <a:p>
            <a:pPr algn="ctr"/>
            <a:r>
              <a:rPr lang="en-US" sz="1600" b="1" dirty="0" smtClean="0">
                <a:solidFill>
                  <a:schemeClr val="bg1"/>
                </a:solidFill>
                <a:latin typeface="Times New Roman" panose="02020603050405020304" pitchFamily="18" charset="0"/>
                <a:cs typeface="Times New Roman" panose="02020603050405020304" pitchFamily="18" charset="0"/>
              </a:rPr>
              <a:t>Business Security</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xmlns="" id="{5B63E99A-F0F6-32B8-C3B7-A8C033799B8B}"/>
              </a:ext>
            </a:extLst>
          </p:cNvPr>
          <p:cNvSpPr txBox="1">
            <a:spLocks noGrp="1" noRot="1" noMove="1" noResize="1" noEditPoints="1" noAdjustHandles="1" noChangeArrowheads="1" noChangeShapeType="1"/>
          </p:cNvSpPr>
          <p:nvPr/>
        </p:nvSpPr>
        <p:spPr>
          <a:xfrm>
            <a:off x="1420850" y="2655847"/>
            <a:ext cx="4824239"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Protects company data and builds trust.</a:t>
            </a:r>
          </a:p>
        </p:txBody>
      </p:sp>
      <p:sp>
        <p:nvSpPr>
          <p:cNvPr id="43" name="TextBox 42">
            <a:extLst>
              <a:ext uri="{FF2B5EF4-FFF2-40B4-BE49-F238E27FC236}">
                <a16:creationId xmlns:a16="http://schemas.microsoft.com/office/drawing/2014/main" xmlns="" id="{A9424552-A027-4CA1-2A6E-5B3D89E4F572}"/>
              </a:ext>
            </a:extLst>
          </p:cNvPr>
          <p:cNvSpPr txBox="1">
            <a:spLocks noGrp="1" noRot="1" noMove="1" noResize="1" noEditPoints="1" noAdjustHandles="1" noChangeArrowheads="1" noChangeShapeType="1"/>
          </p:cNvSpPr>
          <p:nvPr/>
        </p:nvSpPr>
        <p:spPr>
          <a:xfrm>
            <a:off x="1414226" y="3603376"/>
            <a:ext cx="4824239"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Ensures secure online banking and payments.</a:t>
            </a:r>
          </a:p>
        </p:txBody>
      </p:sp>
      <p:sp>
        <p:nvSpPr>
          <p:cNvPr id="44" name="TextBox 43">
            <a:extLst>
              <a:ext uri="{FF2B5EF4-FFF2-40B4-BE49-F238E27FC236}">
                <a16:creationId xmlns:a16="http://schemas.microsoft.com/office/drawing/2014/main" xmlns="" id="{F143F0BF-CDE0-E20F-78A1-E7D6E666AA83}"/>
              </a:ext>
            </a:extLst>
          </p:cNvPr>
          <p:cNvSpPr txBox="1">
            <a:spLocks noGrp="1" noRot="1" noMove="1" noResize="1" noEditPoints="1" noAdjustHandles="1" noChangeArrowheads="1" noChangeShapeType="1"/>
          </p:cNvSpPr>
          <p:nvPr/>
        </p:nvSpPr>
        <p:spPr>
          <a:xfrm>
            <a:off x="1407602" y="4550905"/>
            <a:ext cx="4824239"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Prevents viruses, malware, and hacking.</a:t>
            </a:r>
          </a:p>
        </p:txBody>
      </p:sp>
      <p:sp>
        <p:nvSpPr>
          <p:cNvPr id="45" name="TextBox 44">
            <a:extLst>
              <a:ext uri="{FF2B5EF4-FFF2-40B4-BE49-F238E27FC236}">
                <a16:creationId xmlns:a16="http://schemas.microsoft.com/office/drawing/2014/main" xmlns="" id="{6DB27413-0442-0C9F-7AF8-1BC9B3F72E93}"/>
              </a:ext>
            </a:extLst>
          </p:cNvPr>
          <p:cNvSpPr txBox="1">
            <a:spLocks noGrp="1" noRot="1" noMove="1" noResize="1" noEditPoints="1" noAdjustHandles="1" noChangeArrowheads="1" noChangeShapeType="1"/>
          </p:cNvSpPr>
          <p:nvPr/>
        </p:nvSpPr>
        <p:spPr>
          <a:xfrm>
            <a:off x="1318151" y="3337384"/>
            <a:ext cx="2670756" cy="338554"/>
          </a:xfrm>
          <a:prstGeom prst="rect">
            <a:avLst/>
          </a:prstGeom>
          <a:noFill/>
        </p:spPr>
        <p:txBody>
          <a:bodyPr wrap="square" rtlCol="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Safe Online Transactions</a:t>
            </a:r>
          </a:p>
        </p:txBody>
      </p:sp>
      <p:sp>
        <p:nvSpPr>
          <p:cNvPr id="46" name="TextBox 45">
            <a:extLst>
              <a:ext uri="{FF2B5EF4-FFF2-40B4-BE49-F238E27FC236}">
                <a16:creationId xmlns:a16="http://schemas.microsoft.com/office/drawing/2014/main" xmlns="" id="{5D041843-0C3A-E02F-FE38-3A0DAFC8301A}"/>
              </a:ext>
            </a:extLst>
          </p:cNvPr>
          <p:cNvSpPr txBox="1">
            <a:spLocks noGrp="1" noRot="1" noMove="1" noResize="1" noEditPoints="1" noAdjustHandles="1" noChangeArrowheads="1" noChangeShapeType="1"/>
          </p:cNvSpPr>
          <p:nvPr/>
        </p:nvSpPr>
        <p:spPr>
          <a:xfrm>
            <a:off x="1407602" y="4281613"/>
            <a:ext cx="2985493" cy="338554"/>
          </a:xfrm>
          <a:prstGeom prst="rect">
            <a:avLst/>
          </a:prstGeom>
          <a:noFill/>
        </p:spPr>
        <p:txBody>
          <a:bodyPr wrap="square" rtlCol="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Protection from Cyber Attacks</a:t>
            </a:r>
          </a:p>
        </p:txBody>
      </p:sp>
      <p:sp>
        <p:nvSpPr>
          <p:cNvPr id="47" name="TextBox 46">
            <a:extLst>
              <a:ext uri="{FF2B5EF4-FFF2-40B4-BE49-F238E27FC236}">
                <a16:creationId xmlns:a16="http://schemas.microsoft.com/office/drawing/2014/main" xmlns="" id="{89823433-DD5C-A42D-6245-87664EEE5582}"/>
              </a:ext>
            </a:extLst>
          </p:cNvPr>
          <p:cNvSpPr txBox="1">
            <a:spLocks noGrp="1" noRot="1" noMove="1" noResize="1" noEditPoints="1" noAdjustHandles="1" noChangeArrowheads="1" noChangeShapeType="1"/>
          </p:cNvSpPr>
          <p:nvPr/>
        </p:nvSpPr>
        <p:spPr>
          <a:xfrm>
            <a:off x="1381101" y="5229149"/>
            <a:ext cx="1789482" cy="338554"/>
          </a:xfrm>
          <a:prstGeom prst="rect">
            <a:avLst/>
          </a:prstGeom>
          <a:noFill/>
        </p:spPr>
        <p:txBody>
          <a:bodyPr wrap="square" rtlCol="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User Confidence</a:t>
            </a:r>
          </a:p>
        </p:txBody>
      </p:sp>
      <p:sp>
        <p:nvSpPr>
          <p:cNvPr id="48" name="TextBox 47">
            <a:extLst>
              <a:ext uri="{FF2B5EF4-FFF2-40B4-BE49-F238E27FC236}">
                <a16:creationId xmlns:a16="http://schemas.microsoft.com/office/drawing/2014/main" xmlns="" id="{D611A67D-BCE1-D7AA-FED6-FE2033F6F48C}"/>
              </a:ext>
            </a:extLst>
          </p:cNvPr>
          <p:cNvSpPr txBox="1">
            <a:spLocks noGrp="1" noRot="1" noMove="1" noResize="1" noEditPoints="1" noAdjustHandles="1" noChangeArrowheads="1" noChangeShapeType="1"/>
          </p:cNvSpPr>
          <p:nvPr/>
        </p:nvSpPr>
        <p:spPr>
          <a:xfrm>
            <a:off x="1400978" y="5518316"/>
            <a:ext cx="4824239"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Increases trust in digital platforms.</a:t>
            </a:r>
          </a:p>
        </p:txBody>
      </p:sp>
      <p:pic>
        <p:nvPicPr>
          <p:cNvPr id="50" name="Picture 49">
            <a:extLst>
              <a:ext uri="{FF2B5EF4-FFF2-40B4-BE49-F238E27FC236}">
                <a16:creationId xmlns:a16="http://schemas.microsoft.com/office/drawing/2014/main" xmlns="" id="{14F4DFA7-7EF6-521A-2F3D-C43119AF8CB1}"/>
              </a:ext>
            </a:extLst>
          </p:cNvPr>
          <p:cNvPicPr>
            <a:picLocks noChangeAspect="1"/>
          </p:cNvPicPr>
          <p:nvPr/>
        </p:nvPicPr>
        <p:blipFill>
          <a:blip r:embed="rId12" cstate="print">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val="0"/>
              </a:ext>
            </a:extLst>
          </a:blip>
          <a:stretch>
            <a:fillRect/>
          </a:stretch>
        </p:blipFill>
        <p:spPr>
          <a:xfrm>
            <a:off x="729229" y="4356048"/>
            <a:ext cx="214313" cy="214313"/>
          </a:xfrm>
          <a:prstGeom prst="rect">
            <a:avLst/>
          </a:prstGeom>
        </p:spPr>
      </p:pic>
    </p:spTree>
    <p:extLst>
      <p:ext uri="{BB962C8B-B14F-4D97-AF65-F5344CB8AC3E}">
        <p14:creationId xmlns:p14="http://schemas.microsoft.com/office/powerpoint/2010/main" val="2177769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DD06E-73C5-6E3E-2D87-1B77231E3EE6}"/>
              </a:ext>
            </a:extLst>
          </p:cNvPr>
          <p:cNvSpPr>
            <a:spLocks noGrp="1" noRot="1" noMove="1" noResize="1" noEditPoints="1" noAdjustHandles="1" noChangeArrowheads="1" noChangeShapeType="1"/>
          </p:cNvSpPr>
          <p:nvPr>
            <p:ph type="title"/>
          </p:nvPr>
        </p:nvSpPr>
        <p:spPr/>
        <p:txBody>
          <a:bodyPr/>
          <a:lstStyle/>
          <a:p>
            <a:pPr algn="ctr"/>
            <a:r>
              <a:rPr lang="en-US" b="1" dirty="0">
                <a:solidFill>
                  <a:schemeClr val="accent6"/>
                </a:solidFill>
                <a:latin typeface="Times New Roman" panose="02020603050405020304" pitchFamily="18" charset="0"/>
                <a:cs typeface="Times New Roman" panose="02020603050405020304" pitchFamily="18" charset="0"/>
              </a:rPr>
              <a:t>Real-Life Example of </a:t>
            </a:r>
            <a:r>
              <a:rPr lang="en-US" b="1" dirty="0">
                <a:solidFill>
                  <a:srgbClr val="C00000"/>
                </a:solidFill>
                <a:latin typeface="Times New Roman" panose="02020603050405020304" pitchFamily="18" charset="0"/>
                <a:cs typeface="Times New Roman" panose="02020603050405020304" pitchFamily="18" charset="0"/>
              </a:rPr>
              <a:t>Cyber Attack</a:t>
            </a:r>
          </a:p>
        </p:txBody>
      </p:sp>
      <p:pic>
        <p:nvPicPr>
          <p:cNvPr id="6" name="Picture 5">
            <a:extLst>
              <a:ext uri="{FF2B5EF4-FFF2-40B4-BE49-F238E27FC236}">
                <a16:creationId xmlns:a16="http://schemas.microsoft.com/office/drawing/2014/main" xmlns="" id="{18DC2AD6-4B26-48CD-05C5-38EC187B62F8}"/>
              </a:ext>
            </a:extLst>
          </p:cNvPr>
          <p:cNvPicPr>
            <a:picLocks noGrp="1" noRot="1" noChangeAspect="1" noMove="1" noResize="1" noEditPoints="1" noAdjustHandles="1" noChangeArrowheads="1" noChangeShapeType="1" noCrop="1"/>
          </p:cNvPicPr>
          <p:nvPr/>
        </p:nvPicPr>
        <p:blipFill>
          <a:blip r:embed="rId2" cstate="print">
            <a:duotone>
              <a:prstClr val="black"/>
              <a:srgbClr val="01CB14">
                <a:tint val="45000"/>
                <a:satMod val="400000"/>
              </a:srgbClr>
            </a:duotone>
            <a:extLst>
              <a:ext uri="{BEBA8EAE-BF5A-486C-A8C5-ECC9F3942E4B}">
                <a14:imgProps xmlns:a14="http://schemas.microsoft.com/office/drawing/2010/main">
                  <a14:imgLayer r:embed="rId3">
                    <a14:imgEffect>
                      <a14:backgroundRemoval t="10000" b="90000" l="10000" r="90000">
                        <a14:foregroundMark x1="70313" y1="24609" x2="70313" y2="24609"/>
                        <a14:foregroundMark x1="35938" y1="45117" x2="35938" y2="45117"/>
                        <a14:foregroundMark x1="22266" y1="51953" x2="22266" y2="51953"/>
                        <a14:foregroundMark x1="27344" y1="27930" x2="27344" y2="27930"/>
                      </a14:backgroundRemoval>
                    </a14:imgEffect>
                  </a14:imgLayer>
                </a14:imgProps>
              </a:ext>
              <a:ext uri="{28A0092B-C50C-407E-A947-70E740481C1C}">
                <a14:useLocalDpi xmlns:a14="http://schemas.microsoft.com/office/drawing/2010/main" val="0"/>
              </a:ext>
            </a:extLst>
          </a:blip>
          <a:stretch>
            <a:fillRect/>
          </a:stretch>
        </p:blipFill>
        <p:spPr>
          <a:xfrm>
            <a:off x="405464" y="1690689"/>
            <a:ext cx="501794" cy="501794"/>
          </a:xfrm>
          <a:prstGeom prst="flowChartConnector">
            <a:avLst/>
          </a:prstGeom>
        </p:spPr>
      </p:pic>
      <p:cxnSp>
        <p:nvCxnSpPr>
          <p:cNvPr id="9" name="Straight Connector 8">
            <a:extLst>
              <a:ext uri="{FF2B5EF4-FFF2-40B4-BE49-F238E27FC236}">
                <a16:creationId xmlns:a16="http://schemas.microsoft.com/office/drawing/2014/main" xmlns="" id="{D95A6344-3A17-2FD8-8466-A024570CAE28}"/>
              </a:ext>
            </a:extLst>
          </p:cNvPr>
          <p:cNvCxnSpPr>
            <a:cxnSpLocks noGrp="1" noRot="1" noMove="1" noResize="1" noEditPoints="1" noAdjustHandles="1" noChangeArrowheads="1" noChangeShapeType="1"/>
          </p:cNvCxnSpPr>
          <p:nvPr/>
        </p:nvCxnSpPr>
        <p:spPr>
          <a:xfrm>
            <a:off x="5916063" y="1956262"/>
            <a:ext cx="0" cy="4802187"/>
          </a:xfrm>
          <a:prstGeom prst="line">
            <a:avLst/>
          </a:prstGeom>
          <a:ln/>
        </p:spPr>
        <p:style>
          <a:lnRef idx="1">
            <a:schemeClr val="accent6"/>
          </a:lnRef>
          <a:fillRef idx="0">
            <a:schemeClr val="accent6"/>
          </a:fillRef>
          <a:effectRef idx="0">
            <a:schemeClr val="accent6"/>
          </a:effectRef>
          <a:fontRef idx="minor">
            <a:schemeClr val="tx1"/>
          </a:fontRef>
        </p:style>
      </p:cxnSp>
      <p:sp>
        <p:nvSpPr>
          <p:cNvPr id="12" name="Flowchart: Connector 11">
            <a:extLst>
              <a:ext uri="{FF2B5EF4-FFF2-40B4-BE49-F238E27FC236}">
                <a16:creationId xmlns:a16="http://schemas.microsoft.com/office/drawing/2014/main" xmlns="" id="{FF25355A-0E64-168A-434E-A4FA6DAC82E2}"/>
              </a:ext>
            </a:extLst>
          </p:cNvPr>
          <p:cNvSpPr>
            <a:spLocks noGrp="1" noRot="1" noMove="1" noResize="1" noEditPoints="1" noAdjustHandles="1" noChangeArrowheads="1" noChangeShapeType="1"/>
          </p:cNvSpPr>
          <p:nvPr/>
        </p:nvSpPr>
        <p:spPr>
          <a:xfrm>
            <a:off x="366937" y="1704110"/>
            <a:ext cx="540321" cy="519545"/>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xmlns="" id="{29AA2478-C830-25CB-140C-82F84569732C}"/>
              </a:ext>
            </a:extLst>
          </p:cNvPr>
          <p:cNvCxnSpPr>
            <a:cxnSpLocks noGrp="1" noRot="1" noMove="1" noResize="1" noEditPoints="1" noAdjustHandles="1" noChangeArrowheads="1" noChangeShapeType="1"/>
            <a:stCxn id="12" idx="6"/>
          </p:cNvCxnSpPr>
          <p:nvPr/>
        </p:nvCxnSpPr>
        <p:spPr>
          <a:xfrm>
            <a:off x="907258" y="1963883"/>
            <a:ext cx="5012096" cy="0"/>
          </a:xfrm>
          <a:prstGeom prst="line">
            <a:avLst/>
          </a:prstGeom>
        </p:spPr>
        <p:style>
          <a:lnRef idx="1">
            <a:schemeClr val="accent6"/>
          </a:lnRef>
          <a:fillRef idx="0">
            <a:schemeClr val="accent6"/>
          </a:fillRef>
          <a:effectRef idx="0">
            <a:schemeClr val="accent6"/>
          </a:effectRef>
          <a:fontRef idx="minor">
            <a:schemeClr val="tx1"/>
          </a:fontRef>
        </p:style>
      </p:cxnSp>
      <p:sp>
        <p:nvSpPr>
          <p:cNvPr id="16" name="TextBox 15">
            <a:extLst>
              <a:ext uri="{FF2B5EF4-FFF2-40B4-BE49-F238E27FC236}">
                <a16:creationId xmlns:a16="http://schemas.microsoft.com/office/drawing/2014/main" xmlns="" id="{BBF3C8D0-8837-7803-A9F4-E954B1CB1B7F}"/>
              </a:ext>
            </a:extLst>
          </p:cNvPr>
          <p:cNvSpPr txBox="1">
            <a:spLocks noGrp="1" noRot="1" noMove="1" noResize="1" noEditPoints="1" noAdjustHandles="1" noChangeArrowheads="1" noChangeShapeType="1"/>
          </p:cNvSpPr>
          <p:nvPr/>
        </p:nvSpPr>
        <p:spPr>
          <a:xfrm>
            <a:off x="907258" y="2021763"/>
            <a:ext cx="4125684"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LinkedIn (2012) </a:t>
            </a:r>
          </a:p>
          <a:p>
            <a:r>
              <a:rPr lang="en-US" dirty="0">
                <a:solidFill>
                  <a:schemeClr val="accent6"/>
                </a:solidFill>
                <a:latin typeface="Times New Roman" panose="02020603050405020304" pitchFamily="18" charset="0"/>
                <a:cs typeface="Times New Roman" panose="02020603050405020304" pitchFamily="18" charset="0"/>
              </a:rPr>
              <a:t>Over 160 million user passwords were stolen and leaked on the dark web.</a:t>
            </a:r>
          </a:p>
        </p:txBody>
      </p:sp>
      <p:cxnSp>
        <p:nvCxnSpPr>
          <p:cNvPr id="18" name="Straight Connector 17">
            <a:extLst>
              <a:ext uri="{FF2B5EF4-FFF2-40B4-BE49-F238E27FC236}">
                <a16:creationId xmlns:a16="http://schemas.microsoft.com/office/drawing/2014/main" xmlns="" id="{F60FA066-2C4B-F500-41C4-61280AFB2263}"/>
              </a:ext>
            </a:extLst>
          </p:cNvPr>
          <p:cNvCxnSpPr>
            <a:cxnSpLocks noGrp="1" noRot="1" noMove="1" noResize="1" noEditPoints="1" noAdjustHandles="1" noChangeArrowheads="1" noChangeShapeType="1"/>
          </p:cNvCxnSpPr>
          <p:nvPr/>
        </p:nvCxnSpPr>
        <p:spPr>
          <a:xfrm>
            <a:off x="5916063" y="2307771"/>
            <a:ext cx="5437737" cy="0"/>
          </a:xfrm>
          <a:prstGeom prst="line">
            <a:avLst/>
          </a:prstGeom>
        </p:spPr>
        <p:style>
          <a:lnRef idx="1">
            <a:schemeClr val="accent6"/>
          </a:lnRef>
          <a:fillRef idx="0">
            <a:schemeClr val="accent6"/>
          </a:fillRef>
          <a:effectRef idx="0">
            <a:schemeClr val="accent6"/>
          </a:effectRef>
          <a:fontRef idx="minor">
            <a:schemeClr val="tx1"/>
          </a:fontRef>
        </p:style>
      </p:cxnSp>
      <p:pic>
        <p:nvPicPr>
          <p:cNvPr id="20" name="Picture 19">
            <a:extLst>
              <a:ext uri="{FF2B5EF4-FFF2-40B4-BE49-F238E27FC236}">
                <a16:creationId xmlns:a16="http://schemas.microsoft.com/office/drawing/2014/main" xmlns="" id="{06A8C902-C4D5-97A0-4F21-FABF581EE6B7}"/>
              </a:ext>
            </a:extLst>
          </p:cNvPr>
          <p:cNvPicPr>
            <a:picLocks noGrp="1" noRot="1" noChangeAspect="1" noMove="1" noResize="1" noEditPoints="1" noAdjustHandles="1" noChangeArrowheads="1" noChangeShapeType="1" noCrop="1"/>
          </p:cNvPicPr>
          <p:nvPr/>
        </p:nvPicPr>
        <p:blipFill>
          <a:blip r:embed="rId4" cstate="print">
            <a:duotone>
              <a:prstClr val="black"/>
              <a:srgbClr val="01CB14">
                <a:tint val="45000"/>
                <a:satMod val="400000"/>
              </a:srgbClr>
            </a:duotone>
            <a:extLst>
              <a:ext uri="{BEBA8EAE-BF5A-486C-A8C5-ECC9F3942E4B}">
                <a14:imgProps xmlns:a14="http://schemas.microsoft.com/office/drawing/2010/main">
                  <a14:imgLayer r:embed="rId5">
                    <a14:imgEffect>
                      <a14:backgroundRemoval t="10000" b="90000" l="10000" r="90000">
                        <a14:foregroundMark x1="46484" y1="51953" x2="46484" y2="51953"/>
                        <a14:foregroundMark x1="48242" y1="44141" x2="48242" y2="44141"/>
                        <a14:foregroundMark x1="71484" y1="36523" x2="71484" y2="36523"/>
                        <a14:foregroundMark x1="65820" y1="61523" x2="65820" y2="6152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353800" y="2026228"/>
            <a:ext cx="563085" cy="563085"/>
          </a:xfrm>
          <a:prstGeom prst="flowChartConnector">
            <a:avLst/>
          </a:prstGeom>
        </p:spPr>
      </p:pic>
      <p:sp>
        <p:nvSpPr>
          <p:cNvPr id="21" name="Flowchart: Connector 20">
            <a:extLst>
              <a:ext uri="{FF2B5EF4-FFF2-40B4-BE49-F238E27FC236}">
                <a16:creationId xmlns:a16="http://schemas.microsoft.com/office/drawing/2014/main" xmlns="" id="{137DFB22-2000-E8CB-2C2D-060AF5E0C267}"/>
              </a:ext>
            </a:extLst>
          </p:cNvPr>
          <p:cNvSpPr>
            <a:spLocks noGrp="1" noRot="1" noMove="1" noResize="1" noEditPoints="1" noAdjustHandles="1" noChangeArrowheads="1" noChangeShapeType="1"/>
          </p:cNvSpPr>
          <p:nvPr/>
        </p:nvSpPr>
        <p:spPr>
          <a:xfrm>
            <a:off x="11364686" y="2021763"/>
            <a:ext cx="563083" cy="563085"/>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1F465B8C-DF04-FD65-FC94-D4ECB00A7F12}"/>
              </a:ext>
            </a:extLst>
          </p:cNvPr>
          <p:cNvSpPr txBox="1">
            <a:spLocks noGrp="1" noRot="1" noMove="1" noResize="1" noEditPoints="1" noAdjustHandles="1" noChangeArrowheads="1" noChangeShapeType="1"/>
          </p:cNvSpPr>
          <p:nvPr/>
        </p:nvSpPr>
        <p:spPr>
          <a:xfrm>
            <a:off x="6106885" y="2357734"/>
            <a:ext cx="5246915"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Yahoo (2013-14)</a:t>
            </a:r>
          </a:p>
          <a:p>
            <a:r>
              <a:rPr lang="en-US" dirty="0">
                <a:solidFill>
                  <a:schemeClr val="accent6"/>
                </a:solidFill>
                <a:latin typeface="Times New Roman" panose="02020603050405020304" pitchFamily="18" charset="0"/>
                <a:cs typeface="Times New Roman" panose="02020603050405020304" pitchFamily="18" charset="0"/>
              </a:rPr>
              <a:t>The largest breach in history, affecting 3 billion user accounts.</a:t>
            </a:r>
          </a:p>
        </p:txBody>
      </p:sp>
      <p:pic>
        <p:nvPicPr>
          <p:cNvPr id="26" name="Picture 25">
            <a:extLst>
              <a:ext uri="{FF2B5EF4-FFF2-40B4-BE49-F238E27FC236}">
                <a16:creationId xmlns:a16="http://schemas.microsoft.com/office/drawing/2014/main" xmlns="" id="{ABB1918F-6702-FDA4-5084-3CE7CDA638C5}"/>
              </a:ext>
            </a:extLst>
          </p:cNvPr>
          <p:cNvPicPr>
            <a:picLocks noGrp="1" noRot="1" noChangeAspect="1" noMove="1" noResize="1" noEditPoints="1" noAdjustHandles="1" noChangeArrowheads="1" noChangeShapeType="1" noCrop="1"/>
          </p:cNvPicPr>
          <p:nvPr/>
        </p:nvPicPr>
        <p:blipFill>
          <a:blip r:embed="rId6" cstate="print">
            <a:duotone>
              <a:prstClr val="black"/>
              <a:srgbClr val="4EA72E">
                <a:tint val="45000"/>
                <a:satMod val="400000"/>
              </a:srgbClr>
            </a:duotone>
            <a:extLst>
              <a:ext uri="{BEBA8EAE-BF5A-486C-A8C5-ECC9F3942E4B}">
                <a14:imgProps xmlns:a14="http://schemas.microsoft.com/office/drawing/2010/main">
                  <a14:imgLayer r:embed="rId7">
                    <a14:imgEffect>
                      <a14:backgroundRemoval t="10000" b="90000" l="10000" r="90000">
                        <a14:foregroundMark x1="40820" y1="46680" x2="40820" y2="46680"/>
                        <a14:foregroundMark x1="20117" y1="56055" x2="36493" y2="58866"/>
                        <a14:foregroundMark x1="47634" y1="58239" x2="60547" y2="56445"/>
                        <a14:foregroundMark x1="53711" y1="54688" x2="47071" y2="53988"/>
                        <a14:foregroundMark x1="19727" y1="66016" x2="68359" y2="68555"/>
                        <a14:foregroundMark x1="68359" y1="68555" x2="16992" y2="64063"/>
                        <a14:foregroundMark x1="36719" y1="55078" x2="46875" y2="56836"/>
                        <a14:backgroundMark x1="58398" y1="37109" x2="58398" y2="37109"/>
                        <a14:backgroundMark x1="58008" y1="28906" x2="58008" y2="28906"/>
                        <a14:backgroundMark x1="46737" y1="30139" x2="62109" y2="31055"/>
                        <a14:backgroundMark x1="39631" y1="29715" x2="39828" y2="29727"/>
                        <a14:backgroundMark x1="62109" y1="31055" x2="65234" y2="32227"/>
                        <a14:backgroundMark x1="49285" y1="26982" x2="64063" y2="30078"/>
                        <a14:backgroundMark x1="36328" y1="42188" x2="58008" y2="42188"/>
                        <a14:backgroundMark x1="38352" y1="52793" x2="9375" y2="49219"/>
                        <a14:backgroundMark x1="51172" y1="29688" x2="31055" y2="37500"/>
                        <a14:backgroundMark x1="31836" y1="27734" x2="36719" y2="33008"/>
                        <a14:backgroundMark x1="42773" y1="27734" x2="47266" y2="28125"/>
                        <a14:backgroundMark x1="40820" y1="29297" x2="32227" y2="26172"/>
                        <a14:backgroundMark x1="36328" y1="31445" x2="58008" y2="27344"/>
                        <a14:backgroundMark x1="41211" y1="60352" x2="41211" y2="60352"/>
                        <a14:backgroundMark x1="41211" y1="59961" x2="41211" y2="59961"/>
                        <a14:backgroundMark x1="41602" y1="26172" x2="45508" y2="28125"/>
                        <a14:backgroundMark x1="40820" y1="25000" x2="39063" y2="25781"/>
                        <a14:backgroundMark x1="35547" y1="60352" x2="46289" y2="60352"/>
                      </a14:backgroundRemoval>
                    </a14:imgEffect>
                  </a14:imgLayer>
                </a14:imgProps>
              </a:ext>
              <a:ext uri="{28A0092B-C50C-407E-A947-70E740481C1C}">
                <a14:useLocalDpi xmlns:a14="http://schemas.microsoft.com/office/drawing/2010/main" val="0"/>
              </a:ext>
            </a:extLst>
          </a:blip>
          <a:stretch>
            <a:fillRect/>
          </a:stretch>
        </p:blipFill>
        <p:spPr>
          <a:xfrm flipH="1">
            <a:off x="372663" y="2837699"/>
            <a:ext cx="567868" cy="567868"/>
          </a:xfrm>
          <a:prstGeom prst="flowChartConnector">
            <a:avLst/>
          </a:prstGeom>
        </p:spPr>
      </p:pic>
      <p:sp>
        <p:nvSpPr>
          <p:cNvPr id="27" name="TextBox 26">
            <a:extLst>
              <a:ext uri="{FF2B5EF4-FFF2-40B4-BE49-F238E27FC236}">
                <a16:creationId xmlns:a16="http://schemas.microsoft.com/office/drawing/2014/main" xmlns="" id="{4F242693-63EB-759D-A457-7C743E35218E}"/>
              </a:ext>
            </a:extLst>
          </p:cNvPr>
          <p:cNvSpPr txBox="1">
            <a:spLocks noGrp="1" noRot="1" noMove="1" noResize="1" noEditPoints="1" noAdjustHandles="1" noChangeArrowheads="1" noChangeShapeType="1"/>
          </p:cNvSpPr>
          <p:nvPr/>
        </p:nvSpPr>
        <p:spPr>
          <a:xfrm>
            <a:off x="382326" y="2879911"/>
            <a:ext cx="1012369" cy="230832"/>
          </a:xfrm>
          <a:prstGeom prst="rect">
            <a:avLst/>
          </a:prstGeom>
          <a:noFill/>
        </p:spPr>
        <p:txBody>
          <a:bodyPr wrap="square" rtlCol="0">
            <a:spAutoFit/>
          </a:bodyPr>
          <a:lstStyle/>
          <a:p>
            <a:r>
              <a:rPr lang="en-US" sz="900" b="1" dirty="0">
                <a:solidFill>
                  <a:srgbClr val="01CB14"/>
                </a:solidFill>
                <a:latin typeface="Times New Roman" panose="02020603050405020304" pitchFamily="18" charset="0"/>
                <a:cs typeface="Times New Roman" panose="02020603050405020304" pitchFamily="18" charset="0"/>
              </a:rPr>
              <a:t>Equifax </a:t>
            </a:r>
          </a:p>
        </p:txBody>
      </p:sp>
      <p:sp>
        <p:nvSpPr>
          <p:cNvPr id="28" name="Flowchart: Connector 27">
            <a:extLst>
              <a:ext uri="{FF2B5EF4-FFF2-40B4-BE49-F238E27FC236}">
                <a16:creationId xmlns:a16="http://schemas.microsoft.com/office/drawing/2014/main" xmlns="" id="{0511EC76-03A6-6FFE-E9CF-C3B8E3D03257}"/>
              </a:ext>
            </a:extLst>
          </p:cNvPr>
          <p:cNvSpPr>
            <a:spLocks noGrp="1" noRot="1" noMove="1" noResize="1" noEditPoints="1" noAdjustHandles="1" noChangeArrowheads="1" noChangeShapeType="1"/>
          </p:cNvSpPr>
          <p:nvPr/>
        </p:nvSpPr>
        <p:spPr>
          <a:xfrm>
            <a:off x="366938" y="2836237"/>
            <a:ext cx="567866" cy="519545"/>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30" name="Straight Connector 29">
            <a:extLst>
              <a:ext uri="{FF2B5EF4-FFF2-40B4-BE49-F238E27FC236}">
                <a16:creationId xmlns:a16="http://schemas.microsoft.com/office/drawing/2014/main" xmlns="" id="{3108D55D-4A6B-7140-8E4F-C6D4BE6230AA}"/>
              </a:ext>
            </a:extLst>
          </p:cNvPr>
          <p:cNvCxnSpPr>
            <a:cxnSpLocks noGrp="1" noRot="1" noMove="1" noResize="1" noEditPoints="1" noAdjustHandles="1" noChangeArrowheads="1" noChangeShapeType="1"/>
            <a:stCxn id="28" idx="6"/>
          </p:cNvCxnSpPr>
          <p:nvPr/>
        </p:nvCxnSpPr>
        <p:spPr>
          <a:xfrm flipV="1">
            <a:off x="934804" y="3058888"/>
            <a:ext cx="4981259" cy="37122"/>
          </a:xfrm>
          <a:prstGeom prst="line">
            <a:avLst/>
          </a:prstGeom>
        </p:spPr>
        <p:style>
          <a:lnRef idx="1">
            <a:schemeClr val="accent6"/>
          </a:lnRef>
          <a:fillRef idx="0">
            <a:schemeClr val="accent6"/>
          </a:fillRef>
          <a:effectRef idx="0">
            <a:schemeClr val="accent6"/>
          </a:effectRef>
          <a:fontRef idx="minor">
            <a:schemeClr val="tx1"/>
          </a:fontRef>
        </p:style>
      </p:cxnSp>
      <p:sp>
        <p:nvSpPr>
          <p:cNvPr id="31" name="TextBox 30">
            <a:extLst>
              <a:ext uri="{FF2B5EF4-FFF2-40B4-BE49-F238E27FC236}">
                <a16:creationId xmlns:a16="http://schemas.microsoft.com/office/drawing/2014/main" xmlns="" id="{B1E1821A-4198-A71E-E6E1-976FF9E99765}"/>
              </a:ext>
            </a:extLst>
          </p:cNvPr>
          <p:cNvSpPr txBox="1">
            <a:spLocks noGrp="1" noRot="1" noMove="1" noResize="1" noEditPoints="1" noAdjustHandles="1" noChangeArrowheads="1" noChangeShapeType="1"/>
          </p:cNvSpPr>
          <p:nvPr/>
        </p:nvSpPr>
        <p:spPr>
          <a:xfrm>
            <a:off x="1033459" y="3106895"/>
            <a:ext cx="4805720"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Equifax (2017)</a:t>
            </a:r>
          </a:p>
          <a:p>
            <a:r>
              <a:rPr lang="en-US" dirty="0">
                <a:solidFill>
                  <a:schemeClr val="accent6"/>
                </a:solidFill>
                <a:latin typeface="Times New Roman" panose="02020603050405020304" pitchFamily="18" charset="0"/>
                <a:cs typeface="Times New Roman" panose="02020603050405020304" pitchFamily="18" charset="0"/>
              </a:rPr>
              <a:t>Personal data of 147 million people was stolen due to a software vulnerability.</a:t>
            </a:r>
          </a:p>
        </p:txBody>
      </p:sp>
      <p:pic>
        <p:nvPicPr>
          <p:cNvPr id="35" name="Picture 34">
            <a:extLst>
              <a:ext uri="{FF2B5EF4-FFF2-40B4-BE49-F238E27FC236}">
                <a16:creationId xmlns:a16="http://schemas.microsoft.com/office/drawing/2014/main" xmlns="" id="{BC57A7D6-CD2E-D447-E011-D461363CF1DA}"/>
              </a:ext>
            </a:extLst>
          </p:cNvPr>
          <p:cNvPicPr>
            <a:picLocks noGrp="1" noRot="1" noChangeAspect="1" noMove="1" noResize="1" noEditPoints="1" noAdjustHandles="1" noChangeArrowheads="1" noChangeShapeType="1" noCrop="1"/>
          </p:cNvPicPr>
          <p:nvPr/>
        </p:nvPicPr>
        <p:blipFill>
          <a:blip r:embed="rId8" cstate="print">
            <a:extLst>
              <a:ext uri="{28A0092B-C50C-407E-A947-70E740481C1C}">
                <a14:useLocalDpi xmlns:a14="http://schemas.microsoft.com/office/drawing/2010/main" val="0"/>
              </a:ext>
            </a:extLst>
          </a:blip>
          <a:stretch>
            <a:fillRect/>
          </a:stretch>
        </p:blipFill>
        <p:spPr>
          <a:xfrm>
            <a:off x="11381752" y="3145796"/>
            <a:ext cx="560551" cy="563085"/>
          </a:xfrm>
          <a:prstGeom prst="rect">
            <a:avLst/>
          </a:prstGeom>
        </p:spPr>
      </p:pic>
      <p:cxnSp>
        <p:nvCxnSpPr>
          <p:cNvPr id="37" name="Straight Connector 36">
            <a:extLst>
              <a:ext uri="{FF2B5EF4-FFF2-40B4-BE49-F238E27FC236}">
                <a16:creationId xmlns:a16="http://schemas.microsoft.com/office/drawing/2014/main" xmlns="" id="{33AA07CC-443B-907B-5CFC-A4B8FD30DD0D}"/>
              </a:ext>
            </a:extLst>
          </p:cNvPr>
          <p:cNvCxnSpPr>
            <a:cxnSpLocks noGrp="1" noRot="1" noMove="1" noResize="1" noEditPoints="1" noAdjustHandles="1" noChangeArrowheads="1" noChangeShapeType="1"/>
            <a:stCxn id="35" idx="1"/>
          </p:cNvCxnSpPr>
          <p:nvPr/>
        </p:nvCxnSpPr>
        <p:spPr>
          <a:xfrm flipH="1" flipV="1">
            <a:off x="5916063" y="3427338"/>
            <a:ext cx="5465689" cy="1"/>
          </a:xfrm>
          <a:prstGeom prst="line">
            <a:avLst/>
          </a:prstGeom>
        </p:spPr>
        <p:style>
          <a:lnRef idx="1">
            <a:schemeClr val="accent6"/>
          </a:lnRef>
          <a:fillRef idx="0">
            <a:schemeClr val="accent6"/>
          </a:fillRef>
          <a:effectRef idx="0">
            <a:schemeClr val="accent6"/>
          </a:effectRef>
          <a:fontRef idx="minor">
            <a:schemeClr val="tx1"/>
          </a:fontRef>
        </p:style>
      </p:cxnSp>
      <p:sp>
        <p:nvSpPr>
          <p:cNvPr id="38" name="TextBox 37">
            <a:extLst>
              <a:ext uri="{FF2B5EF4-FFF2-40B4-BE49-F238E27FC236}">
                <a16:creationId xmlns:a16="http://schemas.microsoft.com/office/drawing/2014/main" xmlns="" id="{3B5992A6-02A1-7C21-ED2B-8845BCAAD1FE}"/>
              </a:ext>
            </a:extLst>
          </p:cNvPr>
          <p:cNvSpPr txBox="1">
            <a:spLocks noGrp="1" noRot="1" noMove="1" noResize="1" noEditPoints="1" noAdjustHandles="1" noChangeArrowheads="1" noChangeShapeType="1"/>
          </p:cNvSpPr>
          <p:nvPr/>
        </p:nvSpPr>
        <p:spPr>
          <a:xfrm>
            <a:off x="6106885" y="3469395"/>
            <a:ext cx="5465688"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Bangladesh Bank (2016)</a:t>
            </a:r>
          </a:p>
          <a:p>
            <a:r>
              <a:rPr lang="en-US" dirty="0">
                <a:solidFill>
                  <a:schemeClr val="accent6"/>
                </a:solidFill>
                <a:latin typeface="Times New Roman" panose="02020603050405020304" pitchFamily="18" charset="0"/>
                <a:cs typeface="Times New Roman" panose="02020603050405020304" pitchFamily="18" charset="0"/>
              </a:rPr>
              <a:t>Hackers attempted to steal $81 million using the SWIFT network.</a:t>
            </a:r>
          </a:p>
        </p:txBody>
      </p:sp>
      <p:pic>
        <p:nvPicPr>
          <p:cNvPr id="40" name="Picture 39">
            <a:extLst>
              <a:ext uri="{FF2B5EF4-FFF2-40B4-BE49-F238E27FC236}">
                <a16:creationId xmlns:a16="http://schemas.microsoft.com/office/drawing/2014/main" xmlns="" id="{925A59FA-A425-4E88-18D3-86C16A9D4988}"/>
              </a:ext>
            </a:extLst>
          </p:cNvPr>
          <p:cNvPicPr>
            <a:picLocks noGrp="1" noRot="1" noChangeAspect="1" noMove="1" noResize="1" noEditPoints="1" noAdjustHandles="1" noChangeArrowheads="1" noChangeShapeType="1" noCrop="1"/>
          </p:cNvPicPr>
          <p:nvPr/>
        </p:nvPicPr>
        <p:blipFill>
          <a:blip r:embed="rId9" cstate="print">
            <a:duotone>
              <a:prstClr val="black"/>
              <a:srgbClr val="01CB14">
                <a:tint val="45000"/>
                <a:satMod val="400000"/>
              </a:srgbClr>
            </a:duotone>
            <a:extLst>
              <a:ext uri="{BEBA8EAE-BF5A-486C-A8C5-ECC9F3942E4B}">
                <a14:imgProps xmlns:a14="http://schemas.microsoft.com/office/drawing/2010/main">
                  <a14:imgLayer r:embed="rId10">
                    <a14:imgEffect>
                      <a14:backgroundRemoval t="10000" b="90000" l="10000" r="90000">
                        <a14:backgroundMark x1="68753" y1="23698" x2="68753" y2="23698"/>
                      </a14:backgroundRemoval>
                    </a14:imgEffect>
                  </a14:imgLayer>
                </a14:imgProps>
              </a:ext>
              <a:ext uri="{28A0092B-C50C-407E-A947-70E740481C1C}">
                <a14:useLocalDpi xmlns:a14="http://schemas.microsoft.com/office/drawing/2010/main" val="0"/>
              </a:ext>
            </a:extLst>
          </a:blip>
          <a:stretch>
            <a:fillRect/>
          </a:stretch>
        </p:blipFill>
        <p:spPr>
          <a:xfrm>
            <a:off x="301621" y="3874017"/>
            <a:ext cx="779396" cy="779396"/>
          </a:xfrm>
          <a:prstGeom prst="rect">
            <a:avLst/>
          </a:prstGeom>
          <a:noFill/>
        </p:spPr>
      </p:pic>
      <p:sp>
        <p:nvSpPr>
          <p:cNvPr id="41" name="Flowchart: Connector 40">
            <a:extLst>
              <a:ext uri="{FF2B5EF4-FFF2-40B4-BE49-F238E27FC236}">
                <a16:creationId xmlns:a16="http://schemas.microsoft.com/office/drawing/2014/main" xmlns="" id="{8C73C54B-D440-6F37-C9F1-94953906B3F9}"/>
              </a:ext>
            </a:extLst>
          </p:cNvPr>
          <p:cNvSpPr>
            <a:spLocks noGrp="1" noRot="1" noMove="1" noResize="1" noEditPoints="1" noAdjustHandles="1" noChangeArrowheads="1" noChangeShapeType="1"/>
          </p:cNvSpPr>
          <p:nvPr/>
        </p:nvSpPr>
        <p:spPr>
          <a:xfrm>
            <a:off x="388709" y="3975795"/>
            <a:ext cx="589638" cy="567868"/>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3" name="Straight Connector 42">
            <a:extLst>
              <a:ext uri="{FF2B5EF4-FFF2-40B4-BE49-F238E27FC236}">
                <a16:creationId xmlns:a16="http://schemas.microsoft.com/office/drawing/2014/main" xmlns="" id="{08AA1380-7E7F-5692-A2EB-AAA44333A920}"/>
              </a:ext>
            </a:extLst>
          </p:cNvPr>
          <p:cNvCxnSpPr>
            <a:cxnSpLocks noGrp="1" noRot="1" noMove="1" noResize="1" noEditPoints="1" noAdjustHandles="1" noChangeArrowheads="1" noChangeShapeType="1"/>
            <a:stCxn id="41" idx="6"/>
          </p:cNvCxnSpPr>
          <p:nvPr/>
        </p:nvCxnSpPr>
        <p:spPr>
          <a:xfrm>
            <a:off x="978347" y="4259729"/>
            <a:ext cx="4937716" cy="0"/>
          </a:xfrm>
          <a:prstGeom prst="line">
            <a:avLst/>
          </a:prstGeom>
        </p:spPr>
        <p:style>
          <a:lnRef idx="1">
            <a:schemeClr val="accent6"/>
          </a:lnRef>
          <a:fillRef idx="0">
            <a:schemeClr val="accent6"/>
          </a:fillRef>
          <a:effectRef idx="0">
            <a:schemeClr val="accent6"/>
          </a:effectRef>
          <a:fontRef idx="minor">
            <a:schemeClr val="tx1"/>
          </a:fontRef>
        </p:style>
      </p:cxnSp>
      <p:sp>
        <p:nvSpPr>
          <p:cNvPr id="44" name="TextBox 43">
            <a:extLst>
              <a:ext uri="{FF2B5EF4-FFF2-40B4-BE49-F238E27FC236}">
                <a16:creationId xmlns:a16="http://schemas.microsoft.com/office/drawing/2014/main" xmlns="" id="{67F6E5C6-13A8-664A-9D9D-3D3541F58F6D}"/>
              </a:ext>
            </a:extLst>
          </p:cNvPr>
          <p:cNvSpPr txBox="1">
            <a:spLocks noGrp="1" noRot="1" noMove="1" noResize="1" noEditPoints="1" noAdjustHandles="1" noChangeArrowheads="1" noChangeShapeType="1"/>
          </p:cNvSpPr>
          <p:nvPr/>
        </p:nvSpPr>
        <p:spPr>
          <a:xfrm>
            <a:off x="1033459" y="4271519"/>
            <a:ext cx="4805716"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Uber (2022)</a:t>
            </a:r>
          </a:p>
          <a:p>
            <a:r>
              <a:rPr lang="en-US" dirty="0">
                <a:solidFill>
                  <a:schemeClr val="accent6"/>
                </a:solidFill>
                <a:latin typeface="Times New Roman" panose="02020603050405020304" pitchFamily="18" charset="0"/>
                <a:cs typeface="Times New Roman" panose="02020603050405020304" pitchFamily="18" charset="0"/>
              </a:rPr>
              <a:t>An 18-year-old hacker used social engineering to access Uber's internal cloud systems.</a:t>
            </a:r>
          </a:p>
        </p:txBody>
      </p:sp>
      <p:pic>
        <p:nvPicPr>
          <p:cNvPr id="46" name="Picture 45">
            <a:extLst>
              <a:ext uri="{FF2B5EF4-FFF2-40B4-BE49-F238E27FC236}">
                <a16:creationId xmlns:a16="http://schemas.microsoft.com/office/drawing/2014/main" xmlns="" id="{1F2AD510-75BF-1BF1-9620-93D8B556F276}"/>
              </a:ext>
            </a:extLst>
          </p:cNvPr>
          <p:cNvPicPr>
            <a:picLocks noGrp="1" noRot="1" noChangeAspect="1" noMove="1" noResize="1" noEditPoints="1" noAdjustHandles="1" noChangeArrowheads="1" noChangeShapeType="1" noCrop="1"/>
          </p:cNvPicPr>
          <p:nvPr/>
        </p:nvPicPr>
        <p:blipFill>
          <a:blip r:embed="rId11" cstate="print">
            <a:duotone>
              <a:prstClr val="black"/>
              <a:schemeClr val="accent6">
                <a:tint val="45000"/>
                <a:satMod val="400000"/>
              </a:schemeClr>
            </a:duotone>
            <a:extLst>
              <a:ext uri="{BEBA8EAE-BF5A-486C-A8C5-ECC9F3942E4B}">
                <a14:imgProps xmlns:a14="http://schemas.microsoft.com/office/drawing/2010/main">
                  <a14:imgLayer r:embed="rId12">
                    <a14:imgEffect>
                      <a14:backgroundRemoval t="10000" b="90000" l="10000" r="90000">
                        <a14:foregroundMark x1="58750" y1="53750" x2="58750" y2="53750"/>
                        <a14:foregroundMark x1="58750" y1="61500" x2="58750" y2="61500"/>
                        <a14:foregroundMark x1="51000" y1="69250" x2="51000" y2="69250"/>
                      </a14:backgroundRemoval>
                    </a14:imgEffect>
                  </a14:imgLayer>
                </a14:imgProps>
              </a:ext>
              <a:ext uri="{28A0092B-C50C-407E-A947-70E740481C1C}">
                <a14:useLocalDpi xmlns:a14="http://schemas.microsoft.com/office/drawing/2010/main" val="0"/>
              </a:ext>
            </a:extLst>
          </a:blip>
          <a:stretch>
            <a:fillRect/>
          </a:stretch>
        </p:blipFill>
        <p:spPr>
          <a:xfrm>
            <a:off x="11367218" y="4269829"/>
            <a:ext cx="560551" cy="560551"/>
          </a:xfrm>
          <a:prstGeom prst="rect">
            <a:avLst/>
          </a:prstGeom>
        </p:spPr>
      </p:pic>
      <p:sp>
        <p:nvSpPr>
          <p:cNvPr id="47" name="Flowchart: Connector 46">
            <a:extLst>
              <a:ext uri="{FF2B5EF4-FFF2-40B4-BE49-F238E27FC236}">
                <a16:creationId xmlns:a16="http://schemas.microsoft.com/office/drawing/2014/main" xmlns="" id="{496DB86A-CF01-9FDD-B074-5D7A73881F3B}"/>
              </a:ext>
            </a:extLst>
          </p:cNvPr>
          <p:cNvSpPr>
            <a:spLocks noGrp="1" noRot="1" noMove="1" noResize="1" noEditPoints="1" noAdjustHandles="1" noChangeArrowheads="1" noChangeShapeType="1"/>
          </p:cNvSpPr>
          <p:nvPr/>
        </p:nvSpPr>
        <p:spPr>
          <a:xfrm>
            <a:off x="11381752" y="4259729"/>
            <a:ext cx="560551" cy="568718"/>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9" name="Straight Connector 48">
            <a:extLst>
              <a:ext uri="{FF2B5EF4-FFF2-40B4-BE49-F238E27FC236}">
                <a16:creationId xmlns:a16="http://schemas.microsoft.com/office/drawing/2014/main" xmlns="" id="{C085ECFA-3274-776B-6900-89D074121938}"/>
              </a:ext>
            </a:extLst>
          </p:cNvPr>
          <p:cNvCxnSpPr>
            <a:cxnSpLocks noGrp="1" noRot="1" noMove="1" noResize="1" noEditPoints="1" noAdjustHandles="1" noChangeArrowheads="1" noChangeShapeType="1"/>
            <a:stCxn id="47" idx="2"/>
          </p:cNvCxnSpPr>
          <p:nvPr/>
        </p:nvCxnSpPr>
        <p:spPr>
          <a:xfrm flipH="1" flipV="1">
            <a:off x="5916063" y="4543663"/>
            <a:ext cx="5465689" cy="425"/>
          </a:xfrm>
          <a:prstGeom prst="line">
            <a:avLst/>
          </a:prstGeom>
        </p:spPr>
        <p:style>
          <a:lnRef idx="1">
            <a:schemeClr val="accent6"/>
          </a:lnRef>
          <a:fillRef idx="0">
            <a:schemeClr val="accent6"/>
          </a:fillRef>
          <a:effectRef idx="0">
            <a:schemeClr val="accent6"/>
          </a:effectRef>
          <a:fontRef idx="minor">
            <a:schemeClr val="tx1"/>
          </a:fontRef>
        </p:style>
      </p:cxnSp>
      <p:sp>
        <p:nvSpPr>
          <p:cNvPr id="50" name="TextBox 49">
            <a:extLst>
              <a:ext uri="{FF2B5EF4-FFF2-40B4-BE49-F238E27FC236}">
                <a16:creationId xmlns:a16="http://schemas.microsoft.com/office/drawing/2014/main" xmlns="" id="{8BEA2A1D-AA64-B8CA-1AD5-4B51C0497655}"/>
              </a:ext>
            </a:extLst>
          </p:cNvPr>
          <p:cNvSpPr txBox="1">
            <a:spLocks noGrp="1" noRot="1" noMove="1" noResize="1" noEditPoints="1" noAdjustHandles="1" noChangeArrowheads="1" noChangeShapeType="1"/>
          </p:cNvSpPr>
          <p:nvPr/>
        </p:nvSpPr>
        <p:spPr>
          <a:xfrm>
            <a:off x="6096000" y="4555439"/>
            <a:ext cx="5476574"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SolarWinds (2020)</a:t>
            </a:r>
          </a:p>
          <a:p>
            <a:r>
              <a:rPr lang="en-US" dirty="0">
                <a:solidFill>
                  <a:schemeClr val="accent6"/>
                </a:solidFill>
                <a:latin typeface="Times New Roman" panose="02020603050405020304" pitchFamily="18" charset="0"/>
                <a:cs typeface="Times New Roman" panose="02020603050405020304" pitchFamily="18" charset="0"/>
              </a:rPr>
              <a:t>A sophisticated supply chain attack that compromised major U.S. government agencies.</a:t>
            </a:r>
          </a:p>
        </p:txBody>
      </p:sp>
      <p:pic>
        <p:nvPicPr>
          <p:cNvPr id="52" name="Picture 51">
            <a:extLst>
              <a:ext uri="{FF2B5EF4-FFF2-40B4-BE49-F238E27FC236}">
                <a16:creationId xmlns:a16="http://schemas.microsoft.com/office/drawing/2014/main" xmlns="" id="{7D8DA057-73E8-21B0-CA3D-548C0EABF690}"/>
              </a:ext>
            </a:extLst>
          </p:cNvPr>
          <p:cNvPicPr>
            <a:picLocks noGrp="1" noRot="1" noChangeAspect="1" noMove="1" noResize="1" noEditPoints="1" noAdjustHandles="1" noChangeArrowheads="1" noChangeShapeType="1" noCrop="1"/>
          </p:cNvPicPr>
          <p:nvPr/>
        </p:nvPicPr>
        <p:blipFill>
          <a:blip r:embed="rId13" cstate="print">
            <a:duotone>
              <a:prstClr val="black"/>
              <a:srgbClr val="01CB14">
                <a:tint val="45000"/>
                <a:satMod val="400000"/>
              </a:srgbClr>
            </a:duotone>
            <a:extLst>
              <a:ext uri="{BEBA8EAE-BF5A-486C-A8C5-ECC9F3942E4B}">
                <a14:imgProps xmlns:a14="http://schemas.microsoft.com/office/drawing/2010/main">
                  <a14:imgLayer r:embed="rId14">
                    <a14:imgEffect>
                      <a14:backgroundRemoval t="10000" b="90000" l="10000" r="90000">
                        <a14:foregroundMark x1="56500" y1="31472" x2="56500" y2="31472"/>
                        <a14:foregroundMark x1="56944" y1="39467" x2="56944" y2="39467"/>
                        <a14:foregroundMark x1="56056" y1="36929" x2="56056" y2="36929"/>
                        <a14:foregroundMark x1="55444" y1="36929" x2="58056" y2="46447"/>
                        <a14:foregroundMark x1="55000" y1="35533" x2="55000" y2="37944"/>
                        <a14:foregroundMark x1="49556" y1="44416" x2="51944" y2="52411"/>
                        <a14:foregroundMark x1="43833" y1="26015" x2="43833" y2="38452"/>
                        <a14:backgroundMark x1="51722" y1="38959" x2="51722" y2="38959"/>
                        <a14:backgroundMark x1="50611" y1="36421" x2="50611" y2="36421"/>
                        <a14:backgroundMark x1="51278" y1="29442" x2="54590" y2="35533"/>
                        <a14:backgroundMark x1="41222" y1="70431" x2="51833" y2="67893"/>
                        <a14:backgroundMark x1="51833" y1="67893" x2="40500" y2="75508"/>
                        <a14:backgroundMark x1="40500" y1="75508" x2="39944" y2="75381"/>
                      </a14:backgroundRemoval>
                    </a14:imgEffect>
                  </a14:imgLayer>
                </a14:imgProps>
              </a:ext>
              <a:ext uri="{28A0092B-C50C-407E-A947-70E740481C1C}">
                <a14:useLocalDpi xmlns:a14="http://schemas.microsoft.com/office/drawing/2010/main" val="0"/>
              </a:ext>
            </a:extLst>
          </a:blip>
          <a:stretch>
            <a:fillRect/>
          </a:stretch>
        </p:blipFill>
        <p:spPr>
          <a:xfrm flipH="1">
            <a:off x="-224296" y="5077688"/>
            <a:ext cx="1805120" cy="790241"/>
          </a:xfrm>
          <a:prstGeom prst="rect">
            <a:avLst/>
          </a:prstGeom>
        </p:spPr>
      </p:pic>
      <p:sp>
        <p:nvSpPr>
          <p:cNvPr id="53" name="Flowchart: Connector 52">
            <a:extLst>
              <a:ext uri="{FF2B5EF4-FFF2-40B4-BE49-F238E27FC236}">
                <a16:creationId xmlns:a16="http://schemas.microsoft.com/office/drawing/2014/main" xmlns="" id="{94817885-2C27-B08A-A344-B0D6489440F8}"/>
              </a:ext>
            </a:extLst>
          </p:cNvPr>
          <p:cNvSpPr>
            <a:spLocks noGrp="1" noRot="1" noMove="1" noResize="1" noEditPoints="1" noAdjustHandles="1" noChangeArrowheads="1" noChangeShapeType="1"/>
          </p:cNvSpPr>
          <p:nvPr/>
        </p:nvSpPr>
        <p:spPr>
          <a:xfrm>
            <a:off x="377823" y="5121232"/>
            <a:ext cx="600524" cy="539339"/>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55" name="Straight Connector 54">
            <a:extLst>
              <a:ext uri="{FF2B5EF4-FFF2-40B4-BE49-F238E27FC236}">
                <a16:creationId xmlns:a16="http://schemas.microsoft.com/office/drawing/2014/main" xmlns="" id="{205BC8E6-EBA1-B06C-485F-47FC306F325A}"/>
              </a:ext>
            </a:extLst>
          </p:cNvPr>
          <p:cNvCxnSpPr>
            <a:cxnSpLocks noGrp="1" noRot="1" noMove="1" noResize="1" noEditPoints="1" noAdjustHandles="1" noChangeArrowheads="1" noChangeShapeType="1"/>
            <a:stCxn id="53" idx="6"/>
          </p:cNvCxnSpPr>
          <p:nvPr/>
        </p:nvCxnSpPr>
        <p:spPr>
          <a:xfrm>
            <a:off x="978347" y="5390902"/>
            <a:ext cx="4937716" cy="22551"/>
          </a:xfrm>
          <a:prstGeom prst="line">
            <a:avLst/>
          </a:prstGeom>
        </p:spPr>
        <p:style>
          <a:lnRef idx="1">
            <a:schemeClr val="accent6"/>
          </a:lnRef>
          <a:fillRef idx="0">
            <a:schemeClr val="accent6"/>
          </a:fillRef>
          <a:effectRef idx="0">
            <a:schemeClr val="accent6"/>
          </a:effectRef>
          <a:fontRef idx="minor">
            <a:schemeClr val="tx1"/>
          </a:fontRef>
        </p:style>
      </p:cxnSp>
      <p:sp>
        <p:nvSpPr>
          <p:cNvPr id="56" name="TextBox 55">
            <a:extLst>
              <a:ext uri="{FF2B5EF4-FFF2-40B4-BE49-F238E27FC236}">
                <a16:creationId xmlns:a16="http://schemas.microsoft.com/office/drawing/2014/main" xmlns="" id="{CEE17D96-C248-6033-B4BC-A57B01BB7FC6}"/>
              </a:ext>
            </a:extLst>
          </p:cNvPr>
          <p:cNvSpPr txBox="1">
            <a:spLocks noGrp="1" noRot="1" noMove="1" noResize="1" noEditPoints="1" noAdjustHandles="1" noChangeArrowheads="1" noChangeShapeType="1"/>
          </p:cNvSpPr>
          <p:nvPr/>
        </p:nvSpPr>
        <p:spPr>
          <a:xfrm>
            <a:off x="978347" y="5464629"/>
            <a:ext cx="4835046" cy="923330"/>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Adobe (2013)</a:t>
            </a:r>
          </a:p>
          <a:p>
            <a:r>
              <a:rPr lang="en-US" dirty="0">
                <a:solidFill>
                  <a:schemeClr val="accent6"/>
                </a:solidFill>
                <a:latin typeface="Times New Roman" panose="02020603050405020304" pitchFamily="18" charset="0"/>
                <a:cs typeface="Times New Roman" panose="02020603050405020304" pitchFamily="18" charset="0"/>
              </a:rPr>
              <a:t>Stole data for 38 million users, including encrypted credit card information,</a:t>
            </a:r>
          </a:p>
        </p:txBody>
      </p:sp>
      <p:pic>
        <p:nvPicPr>
          <p:cNvPr id="58" name="Picture 57">
            <a:extLst>
              <a:ext uri="{FF2B5EF4-FFF2-40B4-BE49-F238E27FC236}">
                <a16:creationId xmlns:a16="http://schemas.microsoft.com/office/drawing/2014/main" xmlns="" id="{49D41209-213F-B3E0-33B5-1A63AB17ED93}"/>
              </a:ext>
            </a:extLst>
          </p:cNvPr>
          <p:cNvPicPr>
            <a:picLocks noGrp="1" noRot="1" noChangeAspect="1" noMove="1" noResize="1" noEditPoints="1" noAdjustHandles="1" noChangeArrowheads="1" noChangeShapeType="1" noCrop="1"/>
          </p:cNvPicPr>
          <p:nvPr/>
        </p:nvPicPr>
        <p:blipFill>
          <a:blip r:embed="rId15" cstate="print">
            <a:duotone>
              <a:schemeClr val="accent6">
                <a:shade val="45000"/>
                <a:satMod val="135000"/>
              </a:schemeClr>
              <a:prstClr val="white"/>
            </a:duotone>
            <a:extLst>
              <a:ext uri="{BEBA8EAE-BF5A-486C-A8C5-ECC9F3942E4B}">
                <a14:imgProps xmlns:a14="http://schemas.microsoft.com/office/drawing/2010/main">
                  <a14:imgLayer r:embed="rId16">
                    <a14:imgEffect>
                      <a14:backgroundRemoval t="1657" b="99192" l="566" r="97374">
                        <a14:foregroundMark x1="33172" y1="12525" x2="33172" y2="12525"/>
                        <a14:foregroundMark x1="33495" y1="11919" x2="33495" y2="11919"/>
                        <a14:foregroundMark x1="33657" y1="11758" x2="50465" y2="10949"/>
                        <a14:foregroundMark x1="50465" y1="10949" x2="59354" y2="12162"/>
                        <a14:foregroundMark x1="59354" y1="12162" x2="62061" y2="13980"/>
                        <a14:foregroundMark x1="48566" y1="9859" x2="23030" y2="15111"/>
                        <a14:foregroundMark x1="23030" y1="15111" x2="10707" y2="49859"/>
                        <a14:foregroundMark x1="10707" y1="49859" x2="19515" y2="74909"/>
                        <a14:foregroundMark x1="32242" y1="17293" x2="32242" y2="17293"/>
                        <a14:foregroundMark x1="20808" y1="28081" x2="51111" y2="8727"/>
                        <a14:foregroundMark x1="59354" y1="12525" x2="74222" y2="15475"/>
                        <a14:foregroundMark x1="74222" y1="15475" x2="84242" y2="21051"/>
                        <a14:foregroundMark x1="84242" y1="21051" x2="91838" y2="53818"/>
                        <a14:foregroundMark x1="91838" y1="53818" x2="83475" y2="74061"/>
                        <a14:foregroundMark x1="83475" y1="74061" x2="76808" y2="82020"/>
                        <a14:foregroundMark x1="76808" y1="82020" x2="58020" y2="89051"/>
                        <a14:foregroundMark x1="58020" y1="89051" x2="34141" y2="87879"/>
                        <a14:foregroundMark x1="34141" y1="87879" x2="22869" y2="81899"/>
                        <a14:foregroundMark x1="22869" y1="81899" x2="15354" y2="71838"/>
                        <a14:foregroundMark x1="15354" y1="71838" x2="8202" y2="47960"/>
                        <a14:foregroundMark x1="8202" y1="47960" x2="7313" y2="38667"/>
                        <a14:foregroundMark x1="7313" y1="38667" x2="17253" y2="20970"/>
                        <a14:foregroundMark x1="17253" y1="20970" x2="24485" y2="16242"/>
                        <a14:foregroundMark x1="24485" y1="16242" x2="59838" y2="11111"/>
                        <a14:foregroundMark x1="59838" y1="11111" x2="65253" y2="11111"/>
                        <a14:foregroundMark x1="39192" y1="8727" x2="20121" y2="11677"/>
                        <a14:foregroundMark x1="20121" y1="11677" x2="8808" y2="28202"/>
                        <a14:foregroundMark x1="8808" y1="28202" x2="2303" y2="51030"/>
                        <a14:foregroundMark x1="2303" y1="51030" x2="2909" y2="61253"/>
                        <a14:foregroundMark x1="2909" y1="61253" x2="9293" y2="73253"/>
                        <a14:foregroundMark x1="9293" y1="73253" x2="21051" y2="84000"/>
                        <a14:foregroundMark x1="21051" y1="84000" x2="30949" y2="86465"/>
                        <a14:foregroundMark x1="30949" y1="86465" x2="43556" y2="95232"/>
                        <a14:foregroundMark x1="43556" y1="95232" x2="53212" y2="96808"/>
                        <a14:foregroundMark x1="53212" y1="96808" x2="63556" y2="95838"/>
                        <a14:foregroundMark x1="63556" y1="95838" x2="75030" y2="89212"/>
                        <a14:foregroundMark x1="75030" y1="89212" x2="94586" y2="65818"/>
                        <a14:foregroundMark x1="94586" y1="65818" x2="89131" y2="23758"/>
                        <a14:foregroundMark x1="89131" y1="23758" x2="54101" y2="5212"/>
                        <a14:foregroundMark x1="54101" y1="5212" x2="39394" y2="3232"/>
                        <a14:foregroundMark x1="39394" y1="3232" x2="31152" y2="5293"/>
                        <a14:foregroundMark x1="31152" y1="5293" x2="30303" y2="8404"/>
                        <a14:foregroundMark x1="4444" y1="29697" x2="606" y2="48283"/>
                        <a14:foregroundMark x1="606" y1="48283" x2="4121" y2="68081"/>
                        <a14:foregroundMark x1="38101" y1="2061" x2="62909" y2="5051"/>
                        <a14:foregroundMark x1="62909" y1="5051" x2="81737" y2="18061"/>
                        <a14:foregroundMark x1="81737" y1="18061" x2="95030" y2="40687"/>
                        <a14:foregroundMark x1="95030" y1="40687" x2="98101" y2="51071"/>
                        <a14:foregroundMark x1="98101" y1="51071" x2="98101" y2="58303"/>
                        <a14:foregroundMark x1="98101" y1="58303" x2="86586" y2="83717"/>
                        <a14:foregroundMark x1="86586" y1="83717" x2="77131" y2="90465"/>
                        <a14:foregroundMark x1="77131" y1="90465" x2="50303" y2="98949"/>
                        <a14:foregroundMark x1="50303" y1="98949" x2="28889" y2="93212"/>
                        <a14:foregroundMark x1="28889" y1="93212" x2="16687" y2="85091"/>
                        <a14:foregroundMark x1="32364" y1="96040" x2="39717" y2="98505"/>
                        <a14:foregroundMark x1="39717" y1="98505" x2="53697" y2="99192"/>
                        <a14:foregroundMark x1="53697" y1="99192" x2="66182" y2="96364"/>
                        <a14:foregroundMark x1="92848" y1="25859" x2="99232" y2="47475"/>
                        <a14:foregroundMark x1="99232" y1="47475" x2="97374" y2="63030"/>
                        <a14:foregroundMark x1="97374" y1="63030" x2="92687" y2="75556"/>
                        <a14:foregroundMark x1="38263" y1="1576" x2="49697" y2="1212"/>
                        <a14:foregroundMark x1="49697" y1="1212" x2="57131" y2="1657"/>
                        <a14:foregroundMark x1="57131" y1="1657" x2="59677" y2="3192"/>
                        <a14:foregroundMark x1="48566" y1="33495" x2="40444" y2="37818"/>
                        <a14:foregroundMark x1="40444" y1="37818" x2="36364" y2="43798"/>
                        <a14:foregroundMark x1="36364" y1="43798" x2="34384" y2="54828"/>
                        <a14:foregroundMark x1="34384" y1="54828" x2="39677" y2="61212"/>
                        <a14:foregroundMark x1="39677" y1="61212" x2="48081" y2="65212"/>
                        <a14:foregroundMark x1="48081" y1="65212" x2="58020" y2="63232"/>
                        <a14:foregroundMark x1="58020" y1="63232" x2="64121" y2="57212"/>
                        <a14:foregroundMark x1="64121" y1="57212" x2="65576" y2="50061"/>
                        <a14:foregroundMark x1="65576" y1="50061" x2="63192" y2="41859"/>
                        <a14:foregroundMark x1="63192" y1="41859" x2="55798" y2="34465"/>
                        <a14:foregroundMark x1="55798" y1="34465" x2="48566" y2="33980"/>
                        <a14:foregroundMark x1="48566" y1="33980" x2="48566" y2="33980"/>
                        <a14:foregroundMark x1="48727" y1="33657" x2="48727" y2="33657"/>
                        <a14:backgroundMark x1="44121" y1="27919" x2="44121" y2="27919"/>
                        <a14:backgroundMark x1="44444" y1="27798" x2="22707" y2="38465"/>
                        <a14:backgroundMark x1="22707" y1="38465" x2="21899" y2="45576"/>
                        <a14:backgroundMark x1="49374" y1="26182" x2="49374" y2="26182"/>
                      </a14:backgroundRemoval>
                    </a14:imgEffect>
                  </a14:imgLayer>
                </a14:imgProps>
              </a:ext>
              <a:ext uri="{28A0092B-C50C-407E-A947-70E740481C1C}">
                <a14:useLocalDpi xmlns:a14="http://schemas.microsoft.com/office/drawing/2010/main" val="0"/>
              </a:ext>
            </a:extLst>
          </a:blip>
          <a:stretch>
            <a:fillRect/>
          </a:stretch>
        </p:blipFill>
        <p:spPr>
          <a:xfrm>
            <a:off x="11410754" y="5405229"/>
            <a:ext cx="502545" cy="502545"/>
          </a:xfrm>
          <a:prstGeom prst="rect">
            <a:avLst/>
          </a:prstGeom>
        </p:spPr>
      </p:pic>
      <p:sp>
        <p:nvSpPr>
          <p:cNvPr id="59" name="Flowchart: Connector 58">
            <a:extLst>
              <a:ext uri="{FF2B5EF4-FFF2-40B4-BE49-F238E27FC236}">
                <a16:creationId xmlns:a16="http://schemas.microsoft.com/office/drawing/2014/main" xmlns="" id="{41459172-0321-BD5C-90B0-C9B915F1CA96}"/>
              </a:ext>
            </a:extLst>
          </p:cNvPr>
          <p:cNvSpPr>
            <a:spLocks noGrp="1" noRot="1" noMove="1" noResize="1" noEditPoints="1" noAdjustHandles="1" noChangeArrowheads="1" noChangeShapeType="1"/>
          </p:cNvSpPr>
          <p:nvPr/>
        </p:nvSpPr>
        <p:spPr>
          <a:xfrm>
            <a:off x="11328432" y="5345906"/>
            <a:ext cx="657416" cy="630882"/>
          </a:xfrm>
          <a:prstGeom prst="flowChartConnector">
            <a:avLst/>
          </a:prstGeom>
          <a:noFill/>
          <a:ln>
            <a:solidFill>
              <a:srgbClr val="01CB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61" name="Straight Connector 60">
            <a:extLst>
              <a:ext uri="{FF2B5EF4-FFF2-40B4-BE49-F238E27FC236}">
                <a16:creationId xmlns:a16="http://schemas.microsoft.com/office/drawing/2014/main" xmlns="" id="{6E61B474-DBFA-7A90-D4FF-4EBB10E9D4F8}"/>
              </a:ext>
            </a:extLst>
          </p:cNvPr>
          <p:cNvCxnSpPr>
            <a:cxnSpLocks noGrp="1" noRot="1" noMove="1" noResize="1" noEditPoints="1" noAdjustHandles="1" noChangeArrowheads="1" noChangeShapeType="1"/>
            <a:stCxn id="59" idx="2"/>
            <a:endCxn id="59" idx="2"/>
          </p:cNvCxnSpPr>
          <p:nvPr/>
        </p:nvCxnSpPr>
        <p:spPr>
          <a:xfrm>
            <a:off x="11328432" y="5661347"/>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xmlns="" id="{C5FAE136-11A4-726B-71AA-6E139279888F}"/>
              </a:ext>
            </a:extLst>
          </p:cNvPr>
          <p:cNvCxnSpPr>
            <a:cxnSpLocks noGrp="1" noRot="1" noMove="1" noResize="1" noEditPoints="1" noAdjustHandles="1" noChangeArrowheads="1" noChangeShapeType="1"/>
            <a:stCxn id="59" idx="2"/>
          </p:cNvCxnSpPr>
          <p:nvPr/>
        </p:nvCxnSpPr>
        <p:spPr>
          <a:xfrm flipH="1" flipV="1">
            <a:off x="5912773" y="5617807"/>
            <a:ext cx="5415659" cy="43540"/>
          </a:xfrm>
          <a:prstGeom prst="line">
            <a:avLst/>
          </a:prstGeom>
        </p:spPr>
        <p:style>
          <a:lnRef idx="1">
            <a:schemeClr val="accent6"/>
          </a:lnRef>
          <a:fillRef idx="0">
            <a:schemeClr val="accent6"/>
          </a:fillRef>
          <a:effectRef idx="0">
            <a:schemeClr val="accent6"/>
          </a:effectRef>
          <a:fontRef idx="minor">
            <a:schemeClr val="tx1"/>
          </a:fontRef>
        </p:style>
      </p:cxnSp>
      <p:sp>
        <p:nvSpPr>
          <p:cNvPr id="66" name="TextBox 65">
            <a:extLst>
              <a:ext uri="{FF2B5EF4-FFF2-40B4-BE49-F238E27FC236}">
                <a16:creationId xmlns:a16="http://schemas.microsoft.com/office/drawing/2014/main" xmlns="" id="{DE4545B7-09C1-91A9-61C3-93FDBA2FEB42}"/>
              </a:ext>
            </a:extLst>
          </p:cNvPr>
          <p:cNvSpPr txBox="1">
            <a:spLocks noGrp="1" noRot="1" noMove="1" noResize="1" noEditPoints="1" noAdjustHandles="1" noChangeArrowheads="1" noChangeShapeType="1"/>
          </p:cNvSpPr>
          <p:nvPr/>
        </p:nvSpPr>
        <p:spPr>
          <a:xfrm>
            <a:off x="6019799" y="5628445"/>
            <a:ext cx="5649687" cy="1477328"/>
          </a:xfrm>
          <a:prstGeom prst="rect">
            <a:avLst/>
          </a:prstGeom>
          <a:noFill/>
        </p:spPr>
        <p:txBody>
          <a:bodyPr wrap="square" rtlCol="0">
            <a:spAutoFit/>
          </a:bodyPr>
          <a:lstStyle/>
          <a:p>
            <a:pPr algn="ctr"/>
            <a:r>
              <a:rPr lang="en-US" b="1" u="sng" dirty="0">
                <a:solidFill>
                  <a:schemeClr val="accent6"/>
                </a:solidFill>
                <a:latin typeface="Times New Roman" panose="02020603050405020304" pitchFamily="18" charset="0"/>
                <a:cs typeface="Times New Roman" panose="02020603050405020304" pitchFamily="18" charset="0"/>
              </a:rPr>
              <a:t>Target (2013 Breach)</a:t>
            </a:r>
          </a:p>
          <a:p>
            <a:r>
              <a:rPr lang="en-US" dirty="0">
                <a:solidFill>
                  <a:schemeClr val="accent6"/>
                </a:solidFill>
                <a:latin typeface="Times New Roman" panose="02020603050405020304" pitchFamily="18" charset="0"/>
                <a:cs typeface="Times New Roman" panose="02020603050405020304" pitchFamily="18" charset="0"/>
              </a:rPr>
              <a:t>Target experienced a major breach where around 40 million credit and debit card details of customers were stolen.</a:t>
            </a:r>
          </a:p>
          <a:p>
            <a:endParaRPr lang="en-US" dirty="0">
              <a:solidFill>
                <a:srgbClr val="01CB1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0668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chemeClr val="bg1">
                <a:lumMod val="85000"/>
              </a:schemeClr>
            </a:gs>
            <a:gs pos="100000">
              <a:schemeClr val="bg1">
                <a:lumMod val="85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85825" y="98425"/>
            <a:ext cx="10515600" cy="1325563"/>
          </a:xfrm>
        </p:spPr>
        <p:txBody>
          <a:bodyPr/>
          <a:lstStyle/>
          <a:p>
            <a:pPr algn="ctr"/>
            <a:r>
              <a:rPr lang="en-US" b="1" dirty="0">
                <a:latin typeface="Times New Roman" panose="02020603050405020304" pitchFamily="18" charset="0"/>
                <a:cs typeface="Times New Roman" panose="02020603050405020304" pitchFamily="18" charset="0"/>
              </a:rPr>
              <a:t>Statistical Analysis of Cyber Threats</a:t>
            </a:r>
          </a:p>
        </p:txBody>
      </p:sp>
      <p:graphicFrame>
        <p:nvGraphicFramePr>
          <p:cNvPr id="5" name="Table 4"/>
          <p:cNvGraphicFramePr>
            <a:graphicFrameLocks noGrp="1"/>
          </p:cNvGraphicFramePr>
          <p:nvPr>
            <p:extLst>
              <p:ext uri="{D42A27DB-BD31-4B8C-83A1-F6EECF244321}">
                <p14:modId xmlns:p14="http://schemas.microsoft.com/office/powerpoint/2010/main" val="2204234272"/>
              </p:ext>
            </p:extLst>
          </p:nvPr>
        </p:nvGraphicFramePr>
        <p:xfrm>
          <a:off x="1205865" y="1592119"/>
          <a:ext cx="4724400" cy="3378678"/>
        </p:xfrm>
        <a:graphic>
          <a:graphicData uri="http://schemas.openxmlformats.org/drawingml/2006/table">
            <a:tbl>
              <a:tblPr/>
              <a:tblGrid>
                <a:gridCol w="2745839"/>
                <a:gridCol w="1978561"/>
              </a:tblGrid>
              <a:tr h="593553">
                <a:tc>
                  <a:txBody>
                    <a:bodyPr/>
                    <a:lstStyle/>
                    <a:p>
                      <a:pPr algn="ctr" fontAlgn="b"/>
                      <a:r>
                        <a:rPr lang="en-US" sz="1800" b="1" i="0" u="none" strike="noStrike" dirty="0">
                          <a:solidFill>
                            <a:schemeClr val="tx1"/>
                          </a:solidFill>
                          <a:effectLst/>
                          <a:latin typeface="Times New Roman" panose="02020603050405020304" pitchFamily="18" charset="0"/>
                        </a:rPr>
                        <a:t>Cyber Attack Type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en-US" sz="1800" b="1" i="0" u="none" strike="noStrike" dirty="0">
                          <a:solidFill>
                            <a:schemeClr val="tx1"/>
                          </a:solidFill>
                          <a:effectLst/>
                          <a:latin typeface="Times New Roman" panose="02020603050405020304" pitchFamily="18" charset="0"/>
                        </a:rPr>
                        <a:t>Percentage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r>
              <a:tr h="593553">
                <a:tc>
                  <a:txBody>
                    <a:bodyPr/>
                    <a:lstStyle/>
                    <a:p>
                      <a:pPr lvl="1" algn="l" fontAlgn="b"/>
                      <a:r>
                        <a:rPr lang="en-US" sz="1600" b="1" i="0" u="none" strike="noStrike" dirty="0">
                          <a:solidFill>
                            <a:schemeClr val="tx1"/>
                          </a:solidFill>
                          <a:effectLst/>
                          <a:latin typeface="Times New Roman" panose="02020603050405020304" pitchFamily="18" charset="0"/>
                        </a:rPr>
                        <a:t>Phishing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tx1"/>
                          </a:solidFill>
                          <a:effectLst/>
                          <a:latin typeface="Times New Roman" panose="02020603050405020304" pitchFamily="18" charset="0"/>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47893">
                <a:tc>
                  <a:txBody>
                    <a:bodyPr/>
                    <a:lstStyle/>
                    <a:p>
                      <a:pPr lvl="1" algn="l" fontAlgn="b"/>
                      <a:r>
                        <a:rPr lang="en-US" sz="1600" b="1" i="0" u="none" strike="noStrike" dirty="0">
                          <a:solidFill>
                            <a:schemeClr val="tx1"/>
                          </a:solidFill>
                          <a:effectLst/>
                          <a:latin typeface="Times New Roman" panose="02020603050405020304" pitchFamily="18" charset="0"/>
                        </a:rPr>
                        <a:t>Malware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dirty="0">
                          <a:solidFill>
                            <a:schemeClr val="tx1"/>
                          </a:solidFill>
                          <a:effectLst/>
                          <a:latin typeface="Times New Roman" panose="02020603050405020304" pitchFamily="18" charset="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47893">
                <a:tc>
                  <a:txBody>
                    <a:bodyPr/>
                    <a:lstStyle/>
                    <a:p>
                      <a:pPr lvl="1" algn="l" fontAlgn="b"/>
                      <a:r>
                        <a:rPr lang="en-US" sz="1600" b="1" i="0" u="none" strike="noStrike" dirty="0">
                          <a:solidFill>
                            <a:schemeClr val="tx1"/>
                          </a:solidFill>
                          <a:effectLst/>
                          <a:latin typeface="Times New Roman" panose="02020603050405020304" pitchFamily="18" charset="0"/>
                        </a:rPr>
                        <a:t>Ransomware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tx1"/>
                          </a:solidFill>
                          <a:effectLst/>
                          <a:latin typeface="Times New Roman" panose="02020603050405020304" pitchFamily="18" charset="0"/>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47893">
                <a:tc>
                  <a:txBody>
                    <a:bodyPr/>
                    <a:lstStyle/>
                    <a:p>
                      <a:pPr lvl="1" algn="l" fontAlgn="b"/>
                      <a:r>
                        <a:rPr lang="en-US" sz="1600" b="1" i="0" u="none" strike="noStrike" dirty="0">
                          <a:solidFill>
                            <a:schemeClr val="tx1"/>
                          </a:solidFill>
                          <a:effectLst/>
                          <a:latin typeface="Times New Roman" panose="02020603050405020304" pitchFamily="18" charset="0"/>
                        </a:rPr>
                        <a:t>DDoS Attacks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tx1"/>
                          </a:solidFill>
                          <a:effectLst/>
                          <a:latin typeface="Times New Roman" panose="02020603050405020304" pitchFamily="18" charset="0"/>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47893">
                <a:tc>
                  <a:txBody>
                    <a:bodyPr/>
                    <a:lstStyle/>
                    <a:p>
                      <a:pPr lvl="1" algn="l" fontAlgn="b"/>
                      <a:r>
                        <a:rPr lang="en-US" sz="1600" b="1" i="0" u="none" strike="noStrike" dirty="0">
                          <a:solidFill>
                            <a:schemeClr val="tx1"/>
                          </a:solidFill>
                          <a:effectLst/>
                          <a:latin typeface="Times New Roman" panose="02020603050405020304" pitchFamily="18" charset="0"/>
                        </a:rPr>
                        <a:t>Password Attacks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tx1"/>
                          </a:solidFill>
                          <a:effectLst/>
                          <a:latin typeface="Times New Roman" panose="02020603050405020304" pitchFamily="18" charset="0"/>
                        </a:rPr>
                        <a:t>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7" name="Chart 6"/>
          <p:cNvGraphicFramePr>
            <a:graphicFrameLocks/>
          </p:cNvGraphicFramePr>
          <p:nvPr>
            <p:extLst>
              <p:ext uri="{D42A27DB-BD31-4B8C-83A1-F6EECF244321}">
                <p14:modId xmlns:p14="http://schemas.microsoft.com/office/powerpoint/2010/main" val="2458247292"/>
              </p:ext>
            </p:extLst>
          </p:nvPr>
        </p:nvGraphicFramePr>
        <p:xfrm>
          <a:off x="6250305" y="1515918"/>
          <a:ext cx="4972050" cy="3454879"/>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1228725" y="5257800"/>
            <a:ext cx="9829800" cy="1154162"/>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According to the dataset, Phishing attacks account for the highest percentage (40%), followed by Malware (25%). This chart highlights the most common cyber security threats and emphasizes the importance of effective security measures.</a:t>
            </a:r>
          </a:p>
        </p:txBody>
      </p:sp>
    </p:spTree>
    <p:extLst>
      <p:ext uri="{BB962C8B-B14F-4D97-AF65-F5344CB8AC3E}">
        <p14:creationId xmlns:p14="http://schemas.microsoft.com/office/powerpoint/2010/main" val="28953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262626"/>
            </a:gs>
            <a:gs pos="100000">
              <a:srgbClr val="262626"/>
            </a:gs>
          </a:gsLst>
          <a:lin ang="5400000" scaled="1"/>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2226AFB-8620-9B98-ABCA-2A284465AD0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40868" y="68094"/>
            <a:ext cx="8637349" cy="6789906"/>
          </a:xfrm>
          <a:prstGeom prst="rect">
            <a:avLst/>
          </a:prstGeom>
        </p:spPr>
      </p:pic>
      <p:sp>
        <p:nvSpPr>
          <p:cNvPr id="5" name="Title 4">
            <a:extLst>
              <a:ext uri="{FF2B5EF4-FFF2-40B4-BE49-F238E27FC236}">
                <a16:creationId xmlns:a16="http://schemas.microsoft.com/office/drawing/2014/main" xmlns="" id="{40062010-8E33-B862-B447-C3DBC78D6865}"/>
              </a:ext>
            </a:extLst>
          </p:cNvPr>
          <p:cNvSpPr>
            <a:spLocks noGrp="1"/>
          </p:cNvSpPr>
          <p:nvPr>
            <p:ph type="title"/>
          </p:nvPr>
        </p:nvSpPr>
        <p:spPr>
          <a:xfrm>
            <a:off x="838200" y="238666"/>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xmlns="" id="{F1D36DD2-9422-1D25-097F-91A41F3E6935}"/>
              </a:ext>
            </a:extLst>
          </p:cNvPr>
          <p:cNvSpPr txBox="1"/>
          <p:nvPr/>
        </p:nvSpPr>
        <p:spPr>
          <a:xfrm>
            <a:off x="437745" y="1787966"/>
            <a:ext cx="8073957" cy="4247317"/>
          </a:xfrm>
          <a:prstGeom prst="rect">
            <a:avLst/>
          </a:prstGeom>
          <a:noFill/>
        </p:spPr>
        <p:txBody>
          <a:bodyPr wrap="square" rtlCol="0">
            <a:spAutoFit/>
          </a:bodyPr>
          <a:lstStyle/>
          <a:p>
            <a:r>
              <a:rPr lang="en-US" sz="2700" dirty="0">
                <a:solidFill>
                  <a:schemeClr val="bg1"/>
                </a:solidFill>
                <a:latin typeface="Times New Roman" panose="02020603050405020304" pitchFamily="18" charset="0"/>
                <a:cs typeface="Times New Roman" panose="02020603050405020304" pitchFamily="18" charset="0"/>
              </a:rPr>
              <a:t>Cyber Security is essential for protecting computers, networks, and data from cyber threats. It helps ensure privacy, secure communication, and safe online activities. As technology continues to grow, strong cyber security practices are necessary to create a safer digital environment</a:t>
            </a:r>
            <a:r>
              <a:rPr lang="en-US" sz="2700" dirty="0" smtClean="0">
                <a:solidFill>
                  <a:schemeClr val="bg1"/>
                </a:solidFill>
                <a:latin typeface="Times New Roman" panose="02020603050405020304" pitchFamily="18" charset="0"/>
                <a:cs typeface="Times New Roman" panose="02020603050405020304" pitchFamily="18" charset="0"/>
              </a:rPr>
              <a:t>.</a:t>
            </a:r>
          </a:p>
          <a:p>
            <a:endParaRPr lang="en-US" sz="2700" dirty="0">
              <a:solidFill>
                <a:schemeClr val="bg1"/>
              </a:solidFill>
              <a:latin typeface="Times New Roman" panose="02020603050405020304" pitchFamily="18" charset="0"/>
              <a:cs typeface="Times New Roman" panose="02020603050405020304" pitchFamily="18" charset="0"/>
            </a:endParaRPr>
          </a:p>
          <a:p>
            <a:r>
              <a:rPr lang="en-US" sz="2700" dirty="0" smtClean="0">
                <a:solidFill>
                  <a:schemeClr val="bg1"/>
                </a:solidFill>
                <a:latin typeface="Times New Roman" panose="02020603050405020304" pitchFamily="18" charset="0"/>
                <a:cs typeface="Times New Roman" panose="02020603050405020304" pitchFamily="18" charset="0"/>
              </a:rPr>
              <a:t>By </a:t>
            </a:r>
            <a:r>
              <a:rPr lang="en-US" sz="2700" dirty="0">
                <a:solidFill>
                  <a:schemeClr val="bg1"/>
                </a:solidFill>
                <a:latin typeface="Times New Roman" panose="02020603050405020304" pitchFamily="18" charset="0"/>
                <a:cs typeface="Times New Roman" panose="02020603050405020304" pitchFamily="18" charset="0"/>
              </a:rPr>
              <a:t>increasing awareness and following security measures, individuals and organizations can reduce cyber risks and use technology more safely.</a:t>
            </a:r>
            <a:endParaRPr lang="en-US"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5972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66546"/>
            <a:ext cx="10515600" cy="1325563"/>
          </a:xfrm>
          <a:noFill/>
        </p:spPr>
        <p:txBody>
          <a:bodyPr/>
          <a:lstStyle/>
          <a:p>
            <a:pPr algn="ctr"/>
            <a:r>
              <a:rPr lang="en-US" b="1" dirty="0">
                <a:latin typeface="Times New Roman" panose="02020603050405020304" pitchFamily="18" charset="0"/>
                <a:cs typeface="Times New Roman" panose="02020603050405020304" pitchFamily="18" charset="0"/>
              </a:rPr>
              <a:t>AI Usage Log</a:t>
            </a:r>
          </a:p>
        </p:txBody>
      </p:sp>
      <p:graphicFrame>
        <p:nvGraphicFramePr>
          <p:cNvPr id="5" name="Table 4"/>
          <p:cNvGraphicFramePr>
            <a:graphicFrameLocks noGrp="1"/>
          </p:cNvGraphicFramePr>
          <p:nvPr>
            <p:extLst>
              <p:ext uri="{D42A27DB-BD31-4B8C-83A1-F6EECF244321}">
                <p14:modId xmlns:p14="http://schemas.microsoft.com/office/powerpoint/2010/main" val="916553545"/>
              </p:ext>
            </p:extLst>
          </p:nvPr>
        </p:nvGraphicFramePr>
        <p:xfrm>
          <a:off x="1271015" y="1710266"/>
          <a:ext cx="9820657" cy="4559358"/>
        </p:xfrm>
        <a:graphic>
          <a:graphicData uri="http://schemas.openxmlformats.org/drawingml/2006/table">
            <a:tbl>
              <a:tblPr firstRow="1" bandRow="1">
                <a:tableStyleId>{5940675A-B579-460E-94D1-54222C63F5DA}</a:tableStyleId>
              </a:tblPr>
              <a:tblGrid>
                <a:gridCol w="1088137"/>
                <a:gridCol w="1280160"/>
                <a:gridCol w="1508760"/>
                <a:gridCol w="1207008"/>
                <a:gridCol w="1938528"/>
                <a:gridCol w="1380744"/>
                <a:gridCol w="1417320"/>
              </a:tblGrid>
              <a:tr h="1049302">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Tool Used</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Purpose</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Example Prompt (Short)</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Output Used</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Modification Done</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Verification Method</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c>
                  <a: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Who Used It</a:t>
                      </a:r>
                      <a:endParaRPr lang="en-US" b="1" dirty="0">
                        <a:solidFill>
                          <a:schemeClr val="bg1"/>
                        </a:solidFill>
                        <a:latin typeface="Times New Roman" panose="02020603050405020304" pitchFamily="18" charset="0"/>
                        <a:cs typeface="Times New Roman" panose="02020603050405020304" pitchFamily="18" charset="0"/>
                      </a:endParaRPr>
                    </a:p>
                  </a:txBody>
                  <a:tcPr anchor="ctr">
                    <a:solidFill>
                      <a:srgbClr val="000066"/>
                    </a:solidFill>
                  </a:tcPr>
                </a:tc>
              </a:tr>
              <a:tr h="1035192">
                <a:tc>
                  <a:txBody>
                    <a:bodyPr/>
                    <a:lstStyle/>
                    <a:p>
                      <a:pPr algn="ctr"/>
                      <a:r>
                        <a:rPr lang="en-US" sz="1200" b="1" dirty="0" err="1" smtClean="0">
                          <a:latin typeface="Times New Roman" panose="02020603050405020304" pitchFamily="18" charset="0"/>
                          <a:cs typeface="Times New Roman" panose="02020603050405020304" pitchFamily="18" charset="0"/>
                        </a:rPr>
                        <a:t>ChatGPT</a:t>
                      </a:r>
                      <a:r>
                        <a:rPr lang="en-US" sz="1200" b="1" dirty="0" smtClean="0">
                          <a:latin typeface="Times New Roman" panose="02020603050405020304" pitchFamily="18" charset="0"/>
                          <a:cs typeface="Times New Roman" panose="02020603050405020304" pitchFamily="18" charset="0"/>
                        </a:rPr>
                        <a:t> &amp; Gemini</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Presentation Structure, Design &amp; Data Integration</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"Generate a pro-tier cybersecurity slide deck structure with technical definitions."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Presentation layout &amp; high-end formatting suggestions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Lead Architect: Custom-engineered all professional slide layouts, visual themes, and integrated the Excel statistical chart</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Manually verified chart percentages and logical presentation flow.</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smtClean="0">
                          <a:latin typeface="Times New Roman" panose="02020603050405020304" pitchFamily="18" charset="0"/>
                          <a:cs typeface="Times New Roman" panose="02020603050405020304" pitchFamily="18" charset="0"/>
                        </a:rPr>
                        <a:t>2026000000195</a:t>
                      </a:r>
                      <a:endParaRPr lang="en-US" sz="1200" b="1" dirty="0">
                        <a:latin typeface="Times New Roman" panose="02020603050405020304" pitchFamily="18" charset="0"/>
                        <a:cs typeface="Times New Roman" panose="02020603050405020304" pitchFamily="18" charset="0"/>
                      </a:endParaRPr>
                    </a:p>
                  </a:txBody>
                  <a:tcPr anchor="ctr"/>
                </a:tc>
              </a:tr>
              <a:tr h="734512">
                <a:tc>
                  <a:txBody>
                    <a:bodyPr/>
                    <a:lstStyle/>
                    <a:p>
                      <a:pPr algn="ctr"/>
                      <a:r>
                        <a:rPr lang="en-US" sz="1200" b="1" dirty="0" err="1" smtClean="0">
                          <a:latin typeface="Times New Roman" panose="02020603050405020304" pitchFamily="18" charset="0"/>
                          <a:cs typeface="Times New Roman" panose="02020603050405020304" pitchFamily="18" charset="0"/>
                        </a:rPr>
                        <a:t>Grok</a:t>
                      </a:r>
                      <a:r>
                        <a:rPr lang="en-US" sz="1200" b="1" dirty="0" smtClean="0">
                          <a:latin typeface="Times New Roman" panose="02020603050405020304" pitchFamily="18" charset="0"/>
                          <a:cs typeface="Times New Roman" panose="02020603050405020304" pitchFamily="18" charset="0"/>
                        </a:rPr>
                        <a:t> AI</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Data Acquisition</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"Fetch 2024 statistics on phishing and ransomware breaches."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Threat percentages &amp; attack numbers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Summarized historical breach data for the case study sections.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Cross-checked with IBM Security &amp; Kaspersky reports.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smtClean="0">
                          <a:latin typeface="Times New Roman" panose="02020603050405020304" pitchFamily="18" charset="0"/>
                          <a:cs typeface="Times New Roman" panose="02020603050405020304" pitchFamily="18" charset="0"/>
                        </a:rPr>
                        <a:t>2026000000189</a:t>
                      </a:r>
                      <a:endParaRPr lang="en-US" sz="1200" b="1" dirty="0">
                        <a:latin typeface="Times New Roman" panose="02020603050405020304" pitchFamily="18" charset="0"/>
                        <a:cs typeface="Times New Roman" panose="02020603050405020304" pitchFamily="18" charset="0"/>
                      </a:endParaRPr>
                    </a:p>
                  </a:txBody>
                  <a:tcPr anchor="ctr"/>
                </a:tc>
              </a:tr>
              <a:tr h="734512">
                <a:tc>
                  <a:txBody>
                    <a:bodyPr/>
                    <a:lstStyle/>
                    <a:p>
                      <a:pPr algn="ctr"/>
                      <a:r>
                        <a:rPr lang="en-US" sz="1200" b="1" dirty="0" err="1" smtClean="0">
                          <a:latin typeface="Times New Roman" panose="02020603050405020304" pitchFamily="18" charset="0"/>
                          <a:cs typeface="Times New Roman" panose="02020603050405020304" pitchFamily="18" charset="0"/>
                        </a:rPr>
                        <a:t>NotebookLM</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Literature Review</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"Summarize mitigation steps from NIST PDF."</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NIST framework summaries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Extracted core points for strategic defense.</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Verified with official NIST documentation.</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smtClean="0">
                          <a:latin typeface="Times New Roman" panose="02020603050405020304" pitchFamily="18" charset="0"/>
                          <a:cs typeface="Times New Roman" panose="02020603050405020304" pitchFamily="18" charset="0"/>
                        </a:rPr>
                        <a:t>2026000000185</a:t>
                      </a:r>
                      <a:endParaRPr lang="en-US" sz="1200" b="1" dirty="0">
                        <a:latin typeface="Times New Roman" panose="02020603050405020304" pitchFamily="18" charset="0"/>
                        <a:cs typeface="Times New Roman" panose="02020603050405020304" pitchFamily="18" charset="0"/>
                      </a:endParaRPr>
                    </a:p>
                  </a:txBody>
                  <a:tcPr anchor="ctr"/>
                </a:tc>
              </a:tr>
              <a:tr h="734512">
                <a:tc>
                  <a:txBody>
                    <a:bodyPr/>
                    <a:lstStyle/>
                    <a:p>
                      <a:pPr algn="ctr"/>
                      <a:r>
                        <a:rPr lang="en-US" sz="1200" b="1" dirty="0" err="1" smtClean="0">
                          <a:latin typeface="Times New Roman" panose="02020603050405020304" pitchFamily="18" charset="0"/>
                          <a:cs typeface="Times New Roman" panose="02020603050405020304" pitchFamily="18" charset="0"/>
                        </a:rPr>
                        <a:t>NotebookLM</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Academic Research</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"Format NIST bibliography."</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Structured reference lists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Formatted final academic bibliography.</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r>
                        <a:rPr lang="en-US" sz="1200" b="1" dirty="0" smtClean="0">
                          <a:latin typeface="Times New Roman" panose="02020603050405020304" pitchFamily="18" charset="0"/>
                          <a:cs typeface="Times New Roman" panose="02020603050405020304" pitchFamily="18" charset="0"/>
                        </a:rPr>
                        <a:t>Cross-checked with textbook bibliography.</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smtClean="0">
                          <a:latin typeface="Times New Roman" panose="02020603050405020304" pitchFamily="18" charset="0"/>
                          <a:cs typeface="Times New Roman" panose="02020603050405020304" pitchFamily="18" charset="0"/>
                        </a:rPr>
                        <a:t>2026000000205</a:t>
                      </a:r>
                      <a:endParaRPr lang="en-US" sz="1200" b="1" dirty="0">
                        <a:latin typeface="Times New Roman" panose="02020603050405020304" pitchFamily="18" charset="0"/>
                        <a:cs typeface="Times New Roman" panose="02020603050405020304" pitchFamily="18" charset="0"/>
                      </a:endParaRPr>
                    </a:p>
                  </a:txBody>
                  <a:tcPr anchor="ctr"/>
                </a:tc>
              </a:tr>
            </a:tbl>
          </a:graphicData>
        </a:graphic>
      </p:graphicFrame>
    </p:spTree>
    <p:extLst>
      <p:ext uri="{BB962C8B-B14F-4D97-AF65-F5344CB8AC3E}">
        <p14:creationId xmlns:p14="http://schemas.microsoft.com/office/powerpoint/2010/main" val="3156449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00000">
              <a:srgbClr val="053475"/>
            </a:gs>
            <a:gs pos="0">
              <a:schemeClr val="accent1"/>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C8BB35-3555-9579-576B-8E15F54AD355}"/>
              </a:ext>
            </a:extLst>
          </p:cNvPr>
          <p:cNvSpPr>
            <a:spLocks noGrp="1"/>
          </p:cNvSpPr>
          <p:nvPr>
            <p:ph type="title"/>
          </p:nvPr>
        </p:nvSpPr>
        <p:spPr>
          <a:xfrm>
            <a:off x="838200" y="134302"/>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xmlns="" id="{2E3D71CB-F18D-8A22-9F19-F65745F38F8D}"/>
              </a:ext>
            </a:extLst>
          </p:cNvPr>
          <p:cNvSpPr>
            <a:spLocks noGrp="1"/>
          </p:cNvSpPr>
          <p:nvPr>
            <p:ph idx="1"/>
          </p:nvPr>
        </p:nvSpPr>
        <p:spPr>
          <a:xfrm>
            <a:off x="1336530" y="1459865"/>
            <a:ext cx="9866411" cy="4712335"/>
          </a:xfrm>
        </p:spPr>
        <p:txBody>
          <a:bodyPr>
            <a:noAutofit/>
          </a:bodyPr>
          <a:lstStyle/>
          <a:p>
            <a:pPr>
              <a:lnSpc>
                <a:spcPct val="150000"/>
              </a:lnSpc>
            </a:pPr>
            <a:r>
              <a:rPr lang="en-US" sz="1800" dirty="0">
                <a:solidFill>
                  <a:schemeClr val="bg1"/>
                </a:solidFill>
                <a:latin typeface="Times New Roman" panose="02020603050405020304" pitchFamily="18" charset="0"/>
                <a:cs typeface="Times New Roman" panose="02020603050405020304" pitchFamily="18" charset="0"/>
              </a:rPr>
              <a:t>National Institute of Standards and Technology (NIST). (2020). Framework for Improving Critical Infrastructure Cybersecurity. U.S. Department of Commerce. </a:t>
            </a:r>
            <a:r>
              <a:rPr lang="en-US" sz="1800" dirty="0">
                <a:solidFill>
                  <a:srgbClr val="FFC000"/>
                </a:solidFill>
                <a:latin typeface="Times New Roman" panose="02020603050405020304" pitchFamily="18" charset="0"/>
                <a:cs typeface="Times New Roman" panose="02020603050405020304" pitchFamily="18" charset="0"/>
              </a:rPr>
              <a:t>https://</a:t>
            </a:r>
            <a:r>
              <a:rPr lang="en-US" sz="1800" dirty="0" smtClean="0">
                <a:solidFill>
                  <a:srgbClr val="FFC000"/>
                </a:solidFill>
                <a:latin typeface="Times New Roman" panose="02020603050405020304" pitchFamily="18" charset="0"/>
                <a:cs typeface="Times New Roman" panose="02020603050405020304" pitchFamily="18" charset="0"/>
              </a:rPr>
              <a:t>www.nist.gov</a:t>
            </a:r>
            <a:endParaRPr lang="en-US" sz="1800" dirty="0">
              <a:solidFill>
                <a:srgbClr val="FFC000"/>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bg1"/>
                </a:solidFill>
                <a:latin typeface="Times New Roman" panose="02020603050405020304" pitchFamily="18" charset="0"/>
                <a:cs typeface="Times New Roman" panose="02020603050405020304" pitchFamily="18" charset="0"/>
              </a:rPr>
              <a:t>United Nations Office on Drugs and Crime (UNODC). (2021). Comprehensive Study on Cybercrime. United Nations. </a:t>
            </a:r>
            <a:r>
              <a:rPr lang="en-US" sz="1800" dirty="0">
                <a:solidFill>
                  <a:srgbClr val="FFC000"/>
                </a:solidFill>
                <a:latin typeface="Times New Roman" panose="02020603050405020304" pitchFamily="18" charset="0"/>
                <a:cs typeface="Times New Roman" panose="02020603050405020304" pitchFamily="18" charset="0"/>
              </a:rPr>
              <a:t>https://</a:t>
            </a:r>
            <a:r>
              <a:rPr lang="en-US" sz="1800" dirty="0" smtClean="0">
                <a:solidFill>
                  <a:srgbClr val="FFC000"/>
                </a:solidFill>
                <a:latin typeface="Times New Roman" panose="02020603050405020304" pitchFamily="18" charset="0"/>
                <a:cs typeface="Times New Roman" panose="02020603050405020304" pitchFamily="18" charset="0"/>
              </a:rPr>
              <a:t>www.unodc.org</a:t>
            </a:r>
            <a:endParaRPr lang="en-US" sz="1800" dirty="0">
              <a:solidFill>
                <a:srgbClr val="FFC000"/>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bg1"/>
                </a:solidFill>
                <a:latin typeface="Times New Roman" panose="02020603050405020304" pitchFamily="18" charset="0"/>
                <a:cs typeface="Times New Roman" panose="02020603050405020304" pitchFamily="18" charset="0"/>
              </a:rPr>
              <a:t>Oxford Reference. (2023). A Dictionary of Elements of Cyber Security. Oxford University Press</a:t>
            </a:r>
            <a:r>
              <a:rPr lang="en-US" sz="1800" dirty="0" smtClean="0">
                <a:solidFill>
                  <a:schemeClr val="bg1"/>
                </a:solidFill>
                <a:latin typeface="Times New Roman" panose="02020603050405020304" pitchFamily="18" charset="0"/>
                <a:cs typeface="Times New Roman" panose="02020603050405020304" pitchFamily="18" charset="0"/>
              </a:rPr>
              <a:t>.</a:t>
            </a:r>
            <a:endParaRPr lang="en-US" sz="180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bg1"/>
                </a:solidFill>
                <a:latin typeface="Times New Roman" panose="02020603050405020304" pitchFamily="18" charset="0"/>
                <a:cs typeface="Times New Roman" panose="02020603050405020304" pitchFamily="18" charset="0"/>
              </a:rPr>
              <a:t>IBM Security. (2024). Cost of a Data Breach Report 2024. IBM Corporation. </a:t>
            </a:r>
            <a:r>
              <a:rPr lang="en-US" sz="1800" dirty="0">
                <a:solidFill>
                  <a:srgbClr val="FFC000"/>
                </a:solidFill>
                <a:latin typeface="Times New Roman" panose="02020603050405020304" pitchFamily="18" charset="0"/>
                <a:cs typeface="Times New Roman" panose="02020603050405020304" pitchFamily="18" charset="0"/>
              </a:rPr>
              <a:t>https://</a:t>
            </a:r>
            <a:r>
              <a:rPr lang="en-US" sz="1800" dirty="0" smtClean="0">
                <a:solidFill>
                  <a:srgbClr val="FFC000"/>
                </a:solidFill>
                <a:latin typeface="Times New Roman" panose="02020603050405020304" pitchFamily="18" charset="0"/>
                <a:cs typeface="Times New Roman" panose="02020603050405020304" pitchFamily="18" charset="0"/>
              </a:rPr>
              <a:t>www.ibm.com/reports/data-breach</a:t>
            </a:r>
            <a:endParaRPr lang="en-US" sz="1800" dirty="0">
              <a:solidFill>
                <a:srgbClr val="FFC000"/>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bg1"/>
                </a:solidFill>
                <a:latin typeface="Times New Roman" panose="02020603050405020304" pitchFamily="18" charset="0"/>
                <a:cs typeface="Times New Roman" panose="02020603050405020304" pitchFamily="18" charset="0"/>
              </a:rPr>
              <a:t>Reuters. (2016). How Swifts and Hackers Aligned to Rob Bangladesh Bank of $81 Million. Reuters News. </a:t>
            </a:r>
            <a:r>
              <a:rPr lang="en-US" sz="1800" dirty="0">
                <a:solidFill>
                  <a:srgbClr val="FFC000"/>
                </a:solidFill>
                <a:latin typeface="Times New Roman" panose="02020603050405020304" pitchFamily="18" charset="0"/>
                <a:cs typeface="Times New Roman" panose="02020603050405020304" pitchFamily="18" charset="0"/>
              </a:rPr>
              <a:t>https://www.reuters.com</a:t>
            </a:r>
          </a:p>
        </p:txBody>
      </p:sp>
    </p:spTree>
    <p:extLst>
      <p:ext uri="{BB962C8B-B14F-4D97-AF65-F5344CB8AC3E}">
        <p14:creationId xmlns:p14="http://schemas.microsoft.com/office/powerpoint/2010/main" val="28760123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rgbClr val="053475"/>
            </a:gs>
            <a:gs pos="0">
              <a:schemeClr val="accent1"/>
            </a:gs>
          </a:gsLst>
          <a:lin ang="5400000" scaled="1"/>
        </a:gradFill>
        <a:effectLst/>
      </p:bgPr>
    </p:bg>
    <p:spTree>
      <p:nvGrpSpPr>
        <p:cNvPr id="1" name=""/>
        <p:cNvGrpSpPr/>
        <p:nvPr/>
      </p:nvGrpSpPr>
      <p:grpSpPr>
        <a:xfrm>
          <a:off x="0" y="0"/>
          <a:ext cx="0" cy="0"/>
          <a:chOff x="0" y="0"/>
          <a:chExt cx="0" cy="0"/>
        </a:xfrm>
      </p:grpSpPr>
      <p:sp>
        <p:nvSpPr>
          <p:cNvPr id="6" name="TextBox 5"/>
          <p:cNvSpPr txBox="1"/>
          <p:nvPr/>
        </p:nvSpPr>
        <p:spPr>
          <a:xfrm>
            <a:off x="1755648" y="2130552"/>
            <a:ext cx="8503920" cy="2246769"/>
          </a:xfrm>
          <a:prstGeom prst="rect">
            <a:avLst/>
          </a:prstGeom>
          <a:noFill/>
        </p:spPr>
        <p:txBody>
          <a:bodyPr wrap="square" rtlCol="0">
            <a:spAutoFit/>
          </a:bodyPr>
          <a:lstStyle/>
          <a:p>
            <a:pPr algn="ctr"/>
            <a:r>
              <a:rPr lang="en-US" sz="14000" b="1" i="1" dirty="0">
                <a:solidFill>
                  <a:schemeClr val="bg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408909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1425</TotalTime>
  <Words>913</Words>
  <Application>Microsoft Office PowerPoint</Application>
  <PresentationFormat>Widescreen</PresentationFormat>
  <Paragraphs>144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open sans</vt:lpstr>
      <vt:lpstr>Times New Roman</vt:lpstr>
      <vt:lpstr>Wingdings</vt:lpstr>
      <vt:lpstr>Office Theme</vt:lpstr>
      <vt:lpstr>PowerPoint Presentation</vt:lpstr>
      <vt:lpstr>Cyber Security</vt:lpstr>
      <vt:lpstr>INTRODUCTION</vt:lpstr>
      <vt:lpstr>Cyber Crime</vt:lpstr>
      <vt:lpstr>Major Cyber Security Problem</vt:lpstr>
      <vt:lpstr>Advantages of Cyber Security</vt:lpstr>
      <vt:lpstr>Real-Life Example of Cyber Attack</vt:lpstr>
      <vt:lpstr>Statistical Analysis of Cyber Threats</vt:lpstr>
      <vt:lpstr>Conclusion</vt:lpstr>
      <vt:lpstr>AI Usage Log</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Taus Elham Tamjid</dc:creator>
  <cp:lastModifiedBy>Taus Elham Tamjid</cp:lastModifiedBy>
  <cp:revision>52</cp:revision>
  <dcterms:created xsi:type="dcterms:W3CDTF">2026-04-24T19:16:00Z</dcterms:created>
  <dcterms:modified xsi:type="dcterms:W3CDTF">2026-06-13T00:02:17Z</dcterms:modified>
</cp:coreProperties>
</file>